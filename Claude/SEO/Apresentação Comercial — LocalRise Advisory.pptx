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LOCALRISE ADVISORY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Sua imobiliária gerando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5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leads todos os dias.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depender de portais. Sem dividir clientes com concorrentes.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2944368"/>
            <a:ext cx="3200400" cy="36576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31272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de tráfego pago focada em resultado real: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3547872"/>
            <a:ext cx="1828800" cy="475488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3648456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0664" y="355701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468880" y="3547872"/>
            <a:ext cx="1828800" cy="475488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364845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9504" y="355701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17720" y="3547872"/>
            <a:ext cx="1828800" cy="475488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364845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38344" y="355701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766560" y="365760"/>
            <a:ext cx="2194560" cy="4389120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66560" y="365760"/>
            <a:ext cx="2194560" cy="64008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21" name="Text 16"/>
          <p:cNvSpPr/>
          <p:nvPr/>
        </p:nvSpPr>
        <p:spPr>
          <a:xfrm>
            <a:off x="6858000" y="5486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mercado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imobiliário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cresce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 ao ano.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858000" y="2084832"/>
            <a:ext cx="1828800" cy="36576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23" name="Text 18"/>
          <p:cNvSpPr/>
          <p:nvPr/>
        </p:nvSpPr>
        <p:spPr>
          <a:xfrm>
            <a:off x="685800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6858000" y="2633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compradores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buscam no Google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ligar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858000" y="32004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R$80+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6858000" y="36210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médio por lead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portais pagos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6858000" y="41879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5min</a:t>
            </a:r>
            <a:endParaRPr lang="en-US" sz="2200" dirty="0"/>
          </a:p>
        </p:txBody>
      </p:sp>
      <p:sp>
        <p:nvSpPr>
          <p:cNvPr id="28" name="Text 23"/>
          <p:cNvSpPr/>
          <p:nvPr/>
        </p:nvSpPr>
        <p:spPr>
          <a:xfrm>
            <a:off x="6858000" y="46085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janela ideal para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um lead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recebido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Comercial — Uso Confidencial —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E85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ENQUANTO VOCÊ LÊ ISSO...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sua imobiliária está perdendo leads agora.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1508760"/>
            <a:ext cx="2743200" cy="45720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719072"/>
            <a:ext cx="2670048" cy="3063240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719072"/>
            <a:ext cx="2670048" cy="5486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74520"/>
            <a:ext cx="621792" cy="6217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38912" y="2578608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indo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concorrente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310128"/>
            <a:ext cx="24505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portais, o mesmo lead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enviado para 5 a 10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imobiliárias ao mesmo tempo.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1719072"/>
            <a:ext cx="2670048" cy="3063240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719072"/>
            <a:ext cx="2670048" cy="5486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874520"/>
            <a:ext cx="621792" cy="6217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2578608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Dinheiro jogado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todo mês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10128" y="3310128"/>
            <a:ext cx="24505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Imobiliárias pagam entre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R$3.000 e R$15.000/mês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portais — sem garantia.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53328" y="1719072"/>
            <a:ext cx="2670048" cy="3063240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53328" y="1719072"/>
            <a:ext cx="2670048" cy="5486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1874520"/>
            <a:ext cx="621792" cy="6217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44768" y="2578608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previsibilidade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clientes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163056" y="3310128"/>
            <a:ext cx="24505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ZAP dobrar o preço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amanhã, o que acontece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seu negócio?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52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688" y="16459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Problema do Mercado Imobiliário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56032" y="1234440"/>
            <a:ext cx="2048256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1234440"/>
            <a:ext cx="2048256" cy="64008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8" name="Text 5"/>
          <p:cNvSpPr/>
          <p:nvPr/>
        </p:nvSpPr>
        <p:spPr>
          <a:xfrm>
            <a:off x="256032" y="1371600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R$ 80–150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47472" y="2331720"/>
            <a:ext cx="18653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médio por lead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portais pagos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14016" y="1234440"/>
            <a:ext cx="2048256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14016" y="1234440"/>
            <a:ext cx="2048256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2414016" y="1371600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505456" y="2331720"/>
            <a:ext cx="18653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imobiliárias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recebendo o mesmo lead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0" y="1234440"/>
            <a:ext cx="2048256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234440"/>
            <a:ext cx="2048256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0" y="1371600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6D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57%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4663440" y="2331720"/>
            <a:ext cx="18653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clientes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voltariam a usar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imobiliária*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729984" y="1234440"/>
            <a:ext cx="2048256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729984" y="1234440"/>
            <a:ext cx="2048256" cy="64008"/>
          </a:xfrm>
          <a:prstGeom prst="rect">
            <a:avLst/>
          </a:prstGeom>
          <a:solidFill>
            <a:srgbClr val="1A8C5A"/>
          </a:solidFill>
          <a:ln/>
        </p:spPr>
      </p:sp>
      <p:sp>
        <p:nvSpPr>
          <p:cNvPr id="20" name="Text 17"/>
          <p:cNvSpPr/>
          <p:nvPr/>
        </p:nvSpPr>
        <p:spPr>
          <a:xfrm>
            <a:off x="6729984" y="1371600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8C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6821424" y="2331720"/>
            <a:ext cx="18653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buscas imobiliárias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começam no Google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não no portal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7432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*Fonte: Reclame Aqui — pesquisa do setor imobiliário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56032" y="4023360"/>
            <a:ext cx="8631936" cy="804672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47472" y="4041648"/>
            <a:ext cx="8449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atual foi construído para beneficiar os portais — não você.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52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688" y="16459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Comportamento do Comprador Mudou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70432"/>
            <a:ext cx="2011680" cy="64008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8" name="Shape 5"/>
          <p:cNvSpPr/>
          <p:nvPr/>
        </p:nvSpPr>
        <p:spPr>
          <a:xfrm>
            <a:off x="941832" y="1353312"/>
            <a:ext cx="676656" cy="676656"/>
          </a:xfrm>
          <a:prstGeom prst="rect">
            <a:avLst/>
          </a:prstGeom>
          <a:solidFill>
            <a:srgbClr val="E8522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380744"/>
            <a:ext cx="621792" cy="6217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21214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65760" y="259689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no Google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65760" y="331012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"apartamento 2 quartos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Sul Porto Alegre"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288" y="1920240"/>
            <a:ext cx="274320" cy="274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450592" y="1170432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2450592" y="1170432"/>
            <a:ext cx="2011680" cy="64008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16" name="Shape 11"/>
          <p:cNvSpPr/>
          <p:nvPr/>
        </p:nvSpPr>
        <p:spPr>
          <a:xfrm>
            <a:off x="3118104" y="1353312"/>
            <a:ext cx="676656" cy="676656"/>
          </a:xfrm>
          <a:prstGeom prst="rect">
            <a:avLst/>
          </a:prstGeom>
          <a:solidFill>
            <a:srgbClr val="E8522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536" y="1380744"/>
            <a:ext cx="621792" cy="6217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450592" y="21214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2542032" y="259689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 anúncio relevante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2542032" y="331012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 num anúncio que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 exatamente com ele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1920240"/>
            <a:ext cx="274320" cy="27432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626864" y="1170432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4626864" y="1170432"/>
            <a:ext cx="2011680" cy="64008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24" name="Shape 17"/>
          <p:cNvSpPr/>
          <p:nvPr/>
        </p:nvSpPr>
        <p:spPr>
          <a:xfrm>
            <a:off x="5294376" y="1353312"/>
            <a:ext cx="676656" cy="676656"/>
          </a:xfrm>
          <a:prstGeom prst="rect">
            <a:avLst/>
          </a:prstGeom>
          <a:solidFill>
            <a:srgbClr val="E8522A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08" y="1380744"/>
            <a:ext cx="621792" cy="62179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626864" y="21214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19"/>
          <p:cNvSpPr/>
          <p:nvPr/>
        </p:nvSpPr>
        <p:spPr>
          <a:xfrm>
            <a:off x="4718304" y="259689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 mensagem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WhatsApp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4718304" y="331012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 resposta 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de 5 minutos</a:t>
            </a:r>
            <a:endParaRPr lang="en-US" sz="10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6832" y="1920240"/>
            <a:ext cx="274320" cy="274320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6803136" y="1170432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803136" y="1170432"/>
            <a:ext cx="2011680" cy="64008"/>
          </a:xfrm>
          <a:prstGeom prst="rect">
            <a:avLst/>
          </a:prstGeom>
          <a:solidFill>
            <a:srgbClr val="1A8C5A"/>
          </a:solidFill>
          <a:ln/>
        </p:spPr>
      </p:sp>
      <p:sp>
        <p:nvSpPr>
          <p:cNvPr id="32" name="Shape 23"/>
          <p:cNvSpPr/>
          <p:nvPr/>
        </p:nvSpPr>
        <p:spPr>
          <a:xfrm>
            <a:off x="7470648" y="1353312"/>
            <a:ext cx="676656" cy="676656"/>
          </a:xfrm>
          <a:prstGeom prst="rect">
            <a:avLst/>
          </a:prstGeom>
          <a:solidFill>
            <a:srgbClr val="1A8C5A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1380744"/>
            <a:ext cx="621792" cy="62179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03136" y="21214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35" name="Text 25"/>
          <p:cNvSpPr/>
          <p:nvPr/>
        </p:nvSpPr>
        <p:spPr>
          <a:xfrm>
            <a:off x="6894576" y="259689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com quem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atendeu primeiro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6894576" y="331012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mais rápido não 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o mais barato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8" name="Text 28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domina o tráfego pago domina o cliente — antes dele chegar em qualquer portal.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5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OPORTUNIDADE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Quem agir primeiro vai dominar o mercado local.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maioria das imobiliárias ainda não usa tráfego pago próprio de forma estratégica.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 janela não vai ficar aberta para sempre.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176272"/>
            <a:ext cx="2066544" cy="2633472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76272"/>
            <a:ext cx="2066544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286000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exclusivos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188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lead gerado pelo tráfego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vai direto para você 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mais recebe o mesmo.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2176272"/>
            <a:ext cx="2066544" cy="2633472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2176272"/>
            <a:ext cx="2066544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2286000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Previsibilidade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06040" y="2834640"/>
            <a:ext cx="188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quantos leads você vai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 no mês. Escala quando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 mais. Reduz quando quer.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2176272"/>
            <a:ext cx="2066544" cy="2633472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176272"/>
            <a:ext cx="2066544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286000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controlado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00600" y="2834640"/>
            <a:ext cx="188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define o quanto investe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acompanha o custo por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em tempo real.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03720" y="2176272"/>
            <a:ext cx="2066544" cy="2633472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2176272"/>
            <a:ext cx="2066544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2286000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95160" y="2834640"/>
            <a:ext cx="188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 no ar em dias.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chegando enquanto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seus concorrentes dormem.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828032"/>
            <a:ext cx="8503920" cy="237744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482803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Enquanto você analisa, seu concorrente está captando leads que deveriam ser seus.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Shape 1"/>
          <p:cNvSpPr/>
          <p:nvPr/>
        </p:nvSpPr>
        <p:spPr>
          <a:xfrm>
            <a:off x="3749040" y="0"/>
            <a:ext cx="64008" cy="5143500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749040" cy="54864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5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Advisory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Geramos leads qualificados para imobiliárias através de tráfego pago estratégico — com foco total em cliente real, não em curtida.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3108960"/>
            <a:ext cx="2926080" cy="36576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321868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+ Meta Ads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 direto para WhatsApp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Otimização contínua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429768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023360" y="182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LocalRise se compara: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904488" y="658368"/>
            <a:ext cx="1920240" cy="475488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3" name="Shape 10"/>
          <p:cNvSpPr/>
          <p:nvPr/>
        </p:nvSpPr>
        <p:spPr>
          <a:xfrm>
            <a:off x="5824728" y="658368"/>
            <a:ext cx="1554480" cy="475488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4" name="Shape 11"/>
          <p:cNvSpPr/>
          <p:nvPr/>
        </p:nvSpPr>
        <p:spPr>
          <a:xfrm>
            <a:off x="7379208" y="658368"/>
            <a:ext cx="1645920" cy="475488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5" name="Text 12"/>
          <p:cNvSpPr/>
          <p:nvPr/>
        </p:nvSpPr>
        <p:spPr>
          <a:xfrm>
            <a:off x="3931920" y="658368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52160" y="65836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Portais (ZAP/Viva)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06640" y="658368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LocalRise Advisory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904488" y="1152144"/>
            <a:ext cx="1920240" cy="475488"/>
          </a:xfrm>
          <a:prstGeom prst="rect">
            <a:avLst/>
          </a:prstGeom>
          <a:solidFill>
            <a:srgbClr val="E8EFF7"/>
          </a:solidFill>
          <a:ln/>
        </p:spPr>
      </p:sp>
      <p:sp>
        <p:nvSpPr>
          <p:cNvPr id="19" name="Shape 16"/>
          <p:cNvSpPr/>
          <p:nvPr/>
        </p:nvSpPr>
        <p:spPr>
          <a:xfrm>
            <a:off x="5824728" y="1152144"/>
            <a:ext cx="1554480" cy="475488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20" name="Shape 17"/>
          <p:cNvSpPr/>
          <p:nvPr/>
        </p:nvSpPr>
        <p:spPr>
          <a:xfrm>
            <a:off x="7379208" y="1152144"/>
            <a:ext cx="1645920" cy="475488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21" name="Text 18"/>
          <p:cNvSpPr/>
          <p:nvPr/>
        </p:nvSpPr>
        <p:spPr>
          <a:xfrm>
            <a:off x="3931920" y="1152144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Exclusividade do lead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852160" y="115214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Compartilhado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406640" y="1152144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Exclusivo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904488" y="1645920"/>
            <a:ext cx="1920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5824728" y="1645920"/>
            <a:ext cx="1554480" cy="475488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26" name="Shape 23"/>
          <p:cNvSpPr/>
          <p:nvPr/>
        </p:nvSpPr>
        <p:spPr>
          <a:xfrm>
            <a:off x="7379208" y="1645920"/>
            <a:ext cx="1645920" cy="475488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27" name="Text 24"/>
          <p:cNvSpPr/>
          <p:nvPr/>
        </p:nvSpPr>
        <p:spPr>
          <a:xfrm>
            <a:off x="3931920" y="164592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por lead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852160" y="1645920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R$80–150+/lead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406640" y="1645920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Controlável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904488" y="2139696"/>
            <a:ext cx="1920240" cy="475488"/>
          </a:xfrm>
          <a:prstGeom prst="rect">
            <a:avLst/>
          </a:prstGeom>
          <a:solidFill>
            <a:srgbClr val="E8EFF7"/>
          </a:solidFill>
          <a:ln/>
        </p:spPr>
      </p:sp>
      <p:sp>
        <p:nvSpPr>
          <p:cNvPr id="31" name="Shape 28"/>
          <p:cNvSpPr/>
          <p:nvPr/>
        </p:nvSpPr>
        <p:spPr>
          <a:xfrm>
            <a:off x="5824728" y="2139696"/>
            <a:ext cx="1554480" cy="475488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32" name="Shape 29"/>
          <p:cNvSpPr/>
          <p:nvPr/>
        </p:nvSpPr>
        <p:spPr>
          <a:xfrm>
            <a:off x="7379208" y="2139696"/>
            <a:ext cx="1645920" cy="475488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33" name="Text 30"/>
          <p:cNvSpPr/>
          <p:nvPr/>
        </p:nvSpPr>
        <p:spPr>
          <a:xfrm>
            <a:off x="3931920" y="2139696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Previsibilidade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852160" y="213969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Sem garantia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406640" y="2139696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Escalável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3904488" y="2633472"/>
            <a:ext cx="1920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4"/>
          <p:cNvSpPr/>
          <p:nvPr/>
        </p:nvSpPr>
        <p:spPr>
          <a:xfrm>
            <a:off x="5824728" y="2633472"/>
            <a:ext cx="1554480" cy="475488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38" name="Shape 35"/>
          <p:cNvSpPr/>
          <p:nvPr/>
        </p:nvSpPr>
        <p:spPr>
          <a:xfrm>
            <a:off x="7379208" y="2633472"/>
            <a:ext cx="1645920" cy="475488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39" name="Text 36"/>
          <p:cNvSpPr/>
          <p:nvPr/>
        </p:nvSpPr>
        <p:spPr>
          <a:xfrm>
            <a:off x="3931920" y="2633472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próprio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852160" y="2633472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Você depende deles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7406640" y="2633472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Ativo seu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3904488" y="3127248"/>
            <a:ext cx="1920240" cy="475488"/>
          </a:xfrm>
          <a:prstGeom prst="rect">
            <a:avLst/>
          </a:prstGeom>
          <a:solidFill>
            <a:srgbClr val="E8EFF7"/>
          </a:solidFill>
          <a:ln/>
        </p:spPr>
      </p:sp>
      <p:sp>
        <p:nvSpPr>
          <p:cNvPr id="43" name="Shape 40"/>
          <p:cNvSpPr/>
          <p:nvPr/>
        </p:nvSpPr>
        <p:spPr>
          <a:xfrm>
            <a:off x="5824728" y="3127248"/>
            <a:ext cx="1554480" cy="475488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44" name="Shape 41"/>
          <p:cNvSpPr/>
          <p:nvPr/>
        </p:nvSpPr>
        <p:spPr>
          <a:xfrm>
            <a:off x="7379208" y="3127248"/>
            <a:ext cx="1645920" cy="475488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45" name="Text 42"/>
          <p:cNvSpPr/>
          <p:nvPr/>
        </p:nvSpPr>
        <p:spPr>
          <a:xfrm>
            <a:off x="3931920" y="3127248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mensurado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5852160" y="312724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Métricas confusas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7406640" y="3127248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Lead = cliente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52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688" y="16459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Funciona — O Processo LocalRise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1572768" cy="2926080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70432"/>
            <a:ext cx="1572768" cy="54864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280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5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365760" y="1975104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Estratégico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560320"/>
            <a:ext cx="13898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Entendemos seu mercado, bairros, perfil de cliente ideal e meta de leads.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975104" y="1170432"/>
            <a:ext cx="1572768" cy="2926080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975104" y="1170432"/>
            <a:ext cx="1572768" cy="54864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13" name="Text 10"/>
          <p:cNvSpPr/>
          <p:nvPr/>
        </p:nvSpPr>
        <p:spPr>
          <a:xfrm>
            <a:off x="1975104" y="1280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5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2066544" y="1975104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066544" y="2560320"/>
            <a:ext cx="13898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Desenvolvemos anúncios no Google Ads e/ou Meta Ads com copy de alta conversão.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75888" y="1170432"/>
            <a:ext cx="1572768" cy="2926080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75888" y="1170432"/>
            <a:ext cx="1572768" cy="54864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18" name="Text 15"/>
          <p:cNvSpPr/>
          <p:nvPr/>
        </p:nvSpPr>
        <p:spPr>
          <a:xfrm>
            <a:off x="3675888" y="1280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5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3767328" y="1975104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Segmentação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Circúrgica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67328" y="2560320"/>
            <a:ext cx="13898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Alcançamos quem está procurando imóvel agora na sua região — não audiências genéricas.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376672" y="1170432"/>
            <a:ext cx="1572768" cy="2926080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376672" y="1170432"/>
            <a:ext cx="1572768" cy="54864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23" name="Text 20"/>
          <p:cNvSpPr/>
          <p:nvPr/>
        </p:nvSpPr>
        <p:spPr>
          <a:xfrm>
            <a:off x="5376672" y="1280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5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800" dirty="0"/>
          </a:p>
        </p:txBody>
      </p:sp>
      <p:sp>
        <p:nvSpPr>
          <p:cNvPr id="24" name="Text 21"/>
          <p:cNvSpPr/>
          <p:nvPr/>
        </p:nvSpPr>
        <p:spPr>
          <a:xfrm>
            <a:off x="5468112" y="1975104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 para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68112" y="2560320"/>
            <a:ext cx="13898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lead chega direto no WhatsApp da imobiliária. Sem formulários perdidos.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077456" y="1170432"/>
            <a:ext cx="1572768" cy="2926080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077456" y="1170432"/>
            <a:ext cx="1572768" cy="54864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28" name="Text 25"/>
          <p:cNvSpPr/>
          <p:nvPr/>
        </p:nvSpPr>
        <p:spPr>
          <a:xfrm>
            <a:off x="7077456" y="1280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5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800" dirty="0"/>
          </a:p>
        </p:txBody>
      </p:sp>
      <p:sp>
        <p:nvSpPr>
          <p:cNvPr id="29" name="Text 26"/>
          <p:cNvSpPr/>
          <p:nvPr/>
        </p:nvSpPr>
        <p:spPr>
          <a:xfrm>
            <a:off x="7168896" y="1975104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Otimização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Contínua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168896" y="2560320"/>
            <a:ext cx="13898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Ajustamos semanalmente para reduzir custo por lead e maximizar conversão.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24528"/>
            <a:ext cx="8595360" cy="640080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4325112"/>
            <a:ext cx="384048" cy="38404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914400" y="42245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 campanha ativa em até 7 dias úteis após o briefing.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52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688" y="16459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Quem São os Leads que Você Vai Receber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2066544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70432"/>
            <a:ext cx="2066544" cy="64008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1353312"/>
            <a:ext cx="786384" cy="786384"/>
          </a:xfrm>
          <a:prstGeom prst="rect">
            <a:avLst/>
          </a:prstGeom>
          <a:solidFill>
            <a:srgbClr val="E8EFF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380744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228600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Comprador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Imóvel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84048" y="3017520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 ativamente procurando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comprar apartamento ou casa.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intenção, momento ideal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apresentar seu portfólio.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450592" y="1170432"/>
            <a:ext cx="2066544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450592" y="1170432"/>
            <a:ext cx="2066544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4" name="Shape 10"/>
          <p:cNvSpPr/>
          <p:nvPr/>
        </p:nvSpPr>
        <p:spPr>
          <a:xfrm>
            <a:off x="3090672" y="1353312"/>
            <a:ext cx="786384" cy="786384"/>
          </a:xfrm>
          <a:prstGeom prst="rect">
            <a:avLst/>
          </a:prstGeom>
          <a:solidFill>
            <a:srgbClr val="E8EF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104" y="1380744"/>
            <a:ext cx="731520" cy="7315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42032" y="228600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Imóvel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560320" y="3017520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Proprietários querendo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vender. Oportunidade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captação de imóveis 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aumento de carteira.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626864" y="1170432"/>
            <a:ext cx="2066544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26864" y="1170432"/>
            <a:ext cx="2066544" cy="64008"/>
          </a:xfrm>
          <a:prstGeom prst="rect">
            <a:avLst/>
          </a:prstGeom>
          <a:solidFill>
            <a:srgbClr val="1A8C5A"/>
          </a:solidFill>
          <a:ln/>
        </p:spPr>
      </p:sp>
      <p:sp>
        <p:nvSpPr>
          <p:cNvPr id="20" name="Shape 15"/>
          <p:cNvSpPr/>
          <p:nvPr/>
        </p:nvSpPr>
        <p:spPr>
          <a:xfrm>
            <a:off x="5266944" y="1353312"/>
            <a:ext cx="786384" cy="786384"/>
          </a:xfrm>
          <a:prstGeom prst="rect">
            <a:avLst/>
          </a:prstGeom>
          <a:solidFill>
            <a:srgbClr val="E8EFF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376" y="1380744"/>
            <a:ext cx="731520" cy="7315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18304" y="228600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Locatário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Busca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736592" y="3017520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precisa alugar agora.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com urgência real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buscam resposta rápida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opções disponíveis.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803136" y="1170432"/>
            <a:ext cx="2066544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803136" y="1170432"/>
            <a:ext cx="2066544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Shape 20"/>
          <p:cNvSpPr/>
          <p:nvPr/>
        </p:nvSpPr>
        <p:spPr>
          <a:xfrm>
            <a:off x="7443216" y="1353312"/>
            <a:ext cx="786384" cy="786384"/>
          </a:xfrm>
          <a:prstGeom prst="rect">
            <a:avLst/>
          </a:prstGeom>
          <a:solidFill>
            <a:srgbClr val="E8EFF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1380744"/>
            <a:ext cx="731520" cy="7315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894576" y="228600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Investidor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Imobiliário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6912864" y="3017520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 alto valor. Busca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opções de rentabilidade.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Altamente qualificado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ticket maior.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274320" y="4791456"/>
            <a:ext cx="8595360" cy="2743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1" name="Text 24"/>
          <p:cNvSpPr/>
          <p:nvPr/>
        </p:nvSpPr>
        <p:spPr>
          <a:xfrm>
            <a:off x="274320" y="479145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Segmentação personalizada para o perfil de cliente da sua imobiliária. Não geramos volume — geramos qualidade.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E85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 LOCALRISE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126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Focados em resultado real. Não em marketing bonito.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0" y="1261872"/>
            <a:ext cx="2743200" cy="45720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389888"/>
            <a:ext cx="2743200" cy="1627632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89888"/>
            <a:ext cx="2743200" cy="54864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" y="1554480"/>
            <a:ext cx="603504" cy="603504"/>
          </a:xfrm>
          <a:prstGeom prst="rect">
            <a:avLst/>
          </a:prstGeom>
          <a:solidFill>
            <a:srgbClr val="E8522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581912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155448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Tudo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0624" y="2258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cobramos por clique.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vendemos alcance.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Entregamos leads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viram negócios.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82112" y="1389888"/>
            <a:ext cx="2743200" cy="1627632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82112" y="1389888"/>
            <a:ext cx="27432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5" name="Shape 12"/>
          <p:cNvSpPr/>
          <p:nvPr/>
        </p:nvSpPr>
        <p:spPr>
          <a:xfrm>
            <a:off x="3328416" y="1554480"/>
            <a:ext cx="603504" cy="603504"/>
          </a:xfrm>
          <a:prstGeom prst="rect">
            <a:avLst/>
          </a:prstGeom>
          <a:solidFill>
            <a:srgbClr val="2E6DA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581912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05072" y="155448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Execução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28416" y="2258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Enquanto outros planejam,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gente executa. Primeira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 ativa 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dias úteis.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089904" y="1389888"/>
            <a:ext cx="2743200" cy="1627632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89904" y="1389888"/>
            <a:ext cx="2743200" cy="54864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21" name="Shape 17"/>
          <p:cNvSpPr/>
          <p:nvPr/>
        </p:nvSpPr>
        <p:spPr>
          <a:xfrm>
            <a:off x="6236208" y="1554480"/>
            <a:ext cx="603504" cy="603504"/>
          </a:xfrm>
          <a:prstGeom prst="rect">
            <a:avLst/>
          </a:prstGeom>
          <a:solidFill>
            <a:srgbClr val="E8522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81912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12864" y="155448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Longo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236208" y="2258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fidelidade de 12 meses.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Confiamos no nosso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para manter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como cliente.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274320" y="3236976"/>
            <a:ext cx="2743200" cy="1627632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74320" y="3236976"/>
            <a:ext cx="27432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7" name="Shape 22"/>
          <p:cNvSpPr/>
          <p:nvPr/>
        </p:nvSpPr>
        <p:spPr>
          <a:xfrm>
            <a:off x="420624" y="3401568"/>
            <a:ext cx="603504" cy="603504"/>
          </a:xfrm>
          <a:prstGeom prst="rect">
            <a:avLst/>
          </a:prstGeom>
          <a:solidFill>
            <a:srgbClr val="2E6DA4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3429000"/>
            <a:ext cx="548640" cy="5486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97280" y="340156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Personalizada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20624" y="410565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de template genérico.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campanha 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criada para o seu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e região.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182112" y="3236976"/>
            <a:ext cx="2743200" cy="1627632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182112" y="3236976"/>
            <a:ext cx="2743200" cy="54864"/>
          </a:xfrm>
          <a:prstGeom prst="rect">
            <a:avLst/>
          </a:prstGeom>
          <a:solidFill>
            <a:srgbClr val="1A8C5A"/>
          </a:solidFill>
          <a:ln/>
        </p:spPr>
      </p:sp>
      <p:sp>
        <p:nvSpPr>
          <p:cNvPr id="33" name="Shape 27"/>
          <p:cNvSpPr/>
          <p:nvPr/>
        </p:nvSpPr>
        <p:spPr>
          <a:xfrm>
            <a:off x="3328416" y="3401568"/>
            <a:ext cx="603504" cy="603504"/>
          </a:xfrm>
          <a:prstGeom prst="rect">
            <a:avLst/>
          </a:prstGeom>
          <a:solidFill>
            <a:srgbClr val="1A8C5A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3429000"/>
            <a:ext cx="548640" cy="5486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005072" y="340156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Mentalidade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Crescimento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3328416" y="410565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somos fornecedor.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parceiros 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com skin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game.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6089904" y="3236976"/>
            <a:ext cx="2743200" cy="1627632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089904" y="3236976"/>
            <a:ext cx="2743200" cy="54864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39" name="Shape 32"/>
          <p:cNvSpPr/>
          <p:nvPr/>
        </p:nvSpPr>
        <p:spPr>
          <a:xfrm>
            <a:off x="6236208" y="3401568"/>
            <a:ext cx="603504" cy="603504"/>
          </a:xfrm>
          <a:prstGeom prst="rect">
            <a:avLst/>
          </a:prstGeom>
          <a:solidFill>
            <a:srgbClr val="E8522A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429000"/>
            <a:ext cx="548640" cy="54864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912864" y="340156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no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Imobiliário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6236208" y="410565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especializado 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imobiliárias. Não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atendemos todo mundo.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Atendemos bem você.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52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64592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16459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Muda na Sua Imobiliária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11155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DA LOCALRISE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846320" y="11155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A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LOCALRISE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34840" y="1097280"/>
            <a:ext cx="274320" cy="3767328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9" name="Text 6"/>
          <p:cNvSpPr/>
          <p:nvPr/>
        </p:nvSpPr>
        <p:spPr>
          <a:xfrm>
            <a:off x="4434840" y="25786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1572768"/>
            <a:ext cx="40690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1907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" y="157276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compartilhados com 10+ concorrentes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800600" y="1572768"/>
            <a:ext cx="40690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71907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39512" y="157276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exclusivos direto no seu WhatsApp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274320" y="2176272"/>
            <a:ext cx="4069080" cy="566928"/>
          </a:xfrm>
          <a:prstGeom prst="rect">
            <a:avLst/>
          </a:prstGeom>
          <a:solidFill>
            <a:srgbClr val="E8EFF7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32257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" y="21762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fixo alto nos portais sem garantia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800600" y="2176272"/>
            <a:ext cx="4069080" cy="566928"/>
          </a:xfrm>
          <a:prstGeom prst="rect">
            <a:avLst/>
          </a:prstGeom>
          <a:solidFill>
            <a:srgbClr val="E8EFF7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322576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39512" y="21762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por lead controlado e mensurável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274320" y="2779776"/>
            <a:ext cx="40690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292608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13232" y="27797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previsibilidade de quantos clientes virão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4800600" y="2779776"/>
            <a:ext cx="40690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926080"/>
            <a:ext cx="274320" cy="27432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239512" y="27797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Previsibilidade real de novos negócios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274320" y="3383280"/>
            <a:ext cx="4069080" cy="566928"/>
          </a:xfrm>
          <a:prstGeom prst="rect">
            <a:avLst/>
          </a:prstGeom>
          <a:solidFill>
            <a:srgbClr val="E8EFF7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" y="3529584"/>
            <a:ext cx="274320" cy="27432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13232" y="33832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 total de terceiros para existir online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4800600" y="3383280"/>
            <a:ext cx="4069080" cy="566928"/>
          </a:xfrm>
          <a:prstGeom prst="rect">
            <a:avLst/>
          </a:prstGeom>
          <a:solidFill>
            <a:srgbClr val="E8EFF7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3529584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239512" y="33832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aquisição próprio — ativo da empresa</a:t>
            </a:r>
            <a:endParaRPr lang="en-US" sz="1050" dirty="0"/>
          </a:p>
        </p:txBody>
      </p:sp>
      <p:sp>
        <p:nvSpPr>
          <p:cNvPr id="34" name="Shape 23"/>
          <p:cNvSpPr/>
          <p:nvPr/>
        </p:nvSpPr>
        <p:spPr>
          <a:xfrm>
            <a:off x="274320" y="3986784"/>
            <a:ext cx="40690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4133088"/>
            <a:ext cx="274320" cy="27432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13232" y="398678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Corretores disputando os mesmos contatos</a:t>
            </a:r>
            <a:endParaRPr lang="en-US" sz="1050" dirty="0"/>
          </a:p>
        </p:txBody>
      </p:sp>
      <p:sp>
        <p:nvSpPr>
          <p:cNvPr id="37" name="Shape 25"/>
          <p:cNvSpPr/>
          <p:nvPr/>
        </p:nvSpPr>
        <p:spPr>
          <a:xfrm>
            <a:off x="4800600" y="3986784"/>
            <a:ext cx="40690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4133088"/>
            <a:ext cx="274320" cy="27432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239512" y="398678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Corretores com agenda cheia de oportunidades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52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688" y="16459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de Parceria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56032" y="1170432"/>
            <a:ext cx="2084832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1170432"/>
            <a:ext cx="64008" cy="3017520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1325880"/>
            <a:ext cx="768096" cy="768096"/>
          </a:xfrm>
          <a:prstGeom prst="rect">
            <a:avLst/>
          </a:prstGeom>
          <a:solidFill>
            <a:srgbClr val="E8EFF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353312"/>
            <a:ext cx="713232" cy="7132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" y="21762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Completa 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Tráfego Pago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84048" y="2926080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e/ou Meta Ads ativos com monitoramento diário. Você não precisa entender de plataforma.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432304" y="1170432"/>
            <a:ext cx="2084832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432304" y="1170432"/>
            <a:ext cx="64008" cy="30175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4" name="Shape 10"/>
          <p:cNvSpPr/>
          <p:nvPr/>
        </p:nvSpPr>
        <p:spPr>
          <a:xfrm>
            <a:off x="3090672" y="1325880"/>
            <a:ext cx="768096" cy="768096"/>
          </a:xfrm>
          <a:prstGeom prst="rect">
            <a:avLst/>
          </a:prstGeom>
          <a:solidFill>
            <a:srgbClr val="E8EF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104" y="1353312"/>
            <a:ext cx="713232" cy="7132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60320" y="21762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Claros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Resultado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2560320" y="2926080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recebe relatório objetivo: leads gerados, custo por lead, tendência. Zero jargão técnico.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608576" y="1170432"/>
            <a:ext cx="2084832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08576" y="1170432"/>
            <a:ext cx="64008" cy="3017520"/>
          </a:xfrm>
          <a:prstGeom prst="rect">
            <a:avLst/>
          </a:prstGeom>
          <a:solidFill>
            <a:srgbClr val="1A8C5A"/>
          </a:solidFill>
          <a:ln/>
        </p:spPr>
      </p:sp>
      <p:sp>
        <p:nvSpPr>
          <p:cNvPr id="20" name="Shape 15"/>
          <p:cNvSpPr/>
          <p:nvPr/>
        </p:nvSpPr>
        <p:spPr>
          <a:xfrm>
            <a:off x="5266944" y="1325880"/>
            <a:ext cx="768096" cy="768096"/>
          </a:xfrm>
          <a:prstGeom prst="rect">
            <a:avLst/>
          </a:prstGeom>
          <a:solidFill>
            <a:srgbClr val="E8EFF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376" y="1353312"/>
            <a:ext cx="713232" cy="7132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36592" y="21762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Otimização Contínua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Proativa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736592" y="2926080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Ajustamos criativos, segmentações e orçamentos toda semana para melhorar performance.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784848" y="1170432"/>
            <a:ext cx="2084832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784848" y="1170432"/>
            <a:ext cx="64008" cy="30175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6" name="Shape 20"/>
          <p:cNvSpPr/>
          <p:nvPr/>
        </p:nvSpPr>
        <p:spPr>
          <a:xfrm>
            <a:off x="7443216" y="1325880"/>
            <a:ext cx="768096" cy="768096"/>
          </a:xfrm>
          <a:prstGeom prst="rect">
            <a:avLst/>
          </a:prstGeom>
          <a:solidFill>
            <a:srgbClr val="E8EFF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1353312"/>
            <a:ext cx="713232" cy="7132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12864" y="21762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Crescimento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912864" y="2926080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apenas gerenciamos campanhas — recomendamos onde e como escalar para o próximo nível.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256032" y="4315968"/>
            <a:ext cx="8631936" cy="621792"/>
          </a:xfrm>
          <a:prstGeom prst="rect">
            <a:avLst/>
          </a:prstGeom>
          <a:solidFill>
            <a:srgbClr val="E8EFF7"/>
          </a:solidFill>
          <a:ln/>
          <a:effectLst>
            <a:outerShdw sx="100000" sy="100000" kx="0" ky="0" algn="bl" rotWithShape="0" blurRad="203200" dist="508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56032" y="4315968"/>
            <a:ext cx="64008" cy="621792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32" name="Text 25"/>
          <p:cNvSpPr/>
          <p:nvPr/>
        </p:nvSpPr>
        <p:spPr>
          <a:xfrm>
            <a:off x="411480" y="433425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fidelidade forçada. Sem taxa de setup absurda. Começamos com um piloto e crescemos juntos conforme o resultado aparece.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146304" cy="5052060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16459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5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 PARA COMEÇAR?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9184" y="54864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 semana sem tráfego pago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E85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 uma semana de leads perdidos.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9184" y="184708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Seus concorrentes não estão esperando você decidir.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" y="2304288"/>
            <a:ext cx="2743200" cy="36576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" y="2468880"/>
            <a:ext cx="2606040" cy="2331720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" y="2468880"/>
            <a:ext cx="2606040" cy="64008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" y="256032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5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8912" y="3090672"/>
            <a:ext cx="2386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 uma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 Rápida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" y="3749040"/>
            <a:ext cx="2386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minutos. Entendemos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mercado. Apresentamos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estratégia real.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35808" y="2468880"/>
            <a:ext cx="2606040" cy="2331720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35808" y="2468880"/>
            <a:ext cx="2606040" cy="64008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15" name="Text 13"/>
          <p:cNvSpPr/>
          <p:nvPr/>
        </p:nvSpPr>
        <p:spPr>
          <a:xfrm>
            <a:off x="3035808" y="256032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5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145536" y="3090672"/>
            <a:ext cx="2386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com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Filial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45536" y="3749040"/>
            <a:ext cx="2386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risco. Resultados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visíveis em 30 dias.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decidimos juntos.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42432" y="2468880"/>
            <a:ext cx="2606040" cy="2331720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42432" y="2468880"/>
            <a:ext cx="2606040" cy="64008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20" name="Text 18"/>
          <p:cNvSpPr/>
          <p:nvPr/>
        </p:nvSpPr>
        <p:spPr>
          <a:xfrm>
            <a:off x="5742432" y="256032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5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852160" y="3090672"/>
            <a:ext cx="2386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Escale com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52160" y="3749040"/>
            <a:ext cx="2386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modelo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funcionar, escalamos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toda a rede.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84848" y="256032"/>
            <a:ext cx="2148840" cy="2176272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84848" y="256032"/>
            <a:ext cx="2148840" cy="64008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25" name="Text 23"/>
          <p:cNvSpPr/>
          <p:nvPr/>
        </p:nvSpPr>
        <p:spPr>
          <a:xfrm>
            <a:off x="6876288" y="38404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Advisory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967728" y="1280160"/>
            <a:ext cx="1783080" cy="36576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27" name="Text 25"/>
          <p:cNvSpPr/>
          <p:nvPr/>
        </p:nvSpPr>
        <p:spPr>
          <a:xfrm>
            <a:off x="6876288" y="138988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localriseai@gmail.com</a:t>
            </a:r>
            <a:endParaRPr lang="en-US" sz="9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08" y="1755648"/>
            <a:ext cx="320040" cy="3200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479792" y="1755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Direto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522A"/>
          </a:solidFill>
          <a:ln/>
        </p:spPr>
      </p:sp>
      <p:sp>
        <p:nvSpPr>
          <p:cNvPr id="31" name="Text 2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dia sem lead próprio é um dia de receita perdida — e um dia a mais para o concorrente crescer.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LocalRise Advisory — Apresentação Comercial</dc:title>
  <dc:subject>PptxGenJS Presentation</dc:subject>
  <dc:creator>LocalRise Advisory</dc:creator>
  <cp:lastModifiedBy>LocalRise Advisory</cp:lastModifiedBy>
  <cp:revision>1</cp:revision>
  <dcterms:created xsi:type="dcterms:W3CDTF">2026-03-30T14:09:42Z</dcterms:created>
  <dcterms:modified xsi:type="dcterms:W3CDTF">2026-03-30T14:09:42Z</dcterms:modified>
</cp:coreProperties>
</file>