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011680"/>
            <a:ext cx="4023360" cy="4023360"/>
          </a:xfrm>
          <a:prstGeom prst="ellipse">
            <a:avLst/>
          </a:prstGeom>
          <a:solidFill>
            <a:srgbClr val="8B0000">
              <a:alpha val="85000"/>
            </a:srgbClr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3154680"/>
            <a:ext cx="4023360" cy="4023360"/>
          </a:xfrm>
          <a:prstGeom prst="ellipse">
            <a:avLst/>
          </a:prstGeom>
          <a:solidFill>
            <a:srgbClr val="8B0000">
              <a:alpha val="75000"/>
            </a:srgbClr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-1371600"/>
            <a:ext cx="2926080" cy="2926080"/>
          </a:xfrm>
          <a:prstGeom prst="ellipse">
            <a:avLst/>
          </a:prstGeom>
          <a:solidFill>
            <a:srgbClr val="000000"/>
          </a:solidFill>
          <a:ln w="25400">
            <a:solidFill>
              <a:srgbClr val="CC1020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18288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CC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65760" y="749808"/>
            <a:ext cx="2286000" cy="36576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91440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PROPOSTA DE</a:t>
            </a:r>
            <a:endParaRPr lang="en-US" sz="6400" dirty="0"/>
          </a:p>
        </p:txBody>
      </p:sp>
      <p:sp>
        <p:nvSpPr>
          <p:cNvPr id="10" name="Text 7"/>
          <p:cNvSpPr/>
          <p:nvPr/>
        </p:nvSpPr>
        <p:spPr>
          <a:xfrm>
            <a:off x="274320" y="178308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CRESCIMENTO</a:t>
            </a:r>
            <a:endParaRPr lang="en-US" sz="6400" dirty="0"/>
          </a:p>
        </p:txBody>
      </p:sp>
      <p:sp>
        <p:nvSpPr>
          <p:cNvPr id="11" name="Text 8"/>
          <p:cNvSpPr/>
          <p:nvPr/>
        </p:nvSpPr>
        <p:spPr>
          <a:xfrm>
            <a:off x="274320" y="265176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CC1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DIGITAL</a:t>
            </a:r>
            <a:endParaRPr lang="en-US" sz="6400" dirty="0"/>
          </a:p>
        </p:txBody>
      </p:sp>
      <p:sp>
        <p:nvSpPr>
          <p:cNvPr id="12" name="Shape 9"/>
          <p:cNvSpPr/>
          <p:nvPr/>
        </p:nvSpPr>
        <p:spPr>
          <a:xfrm>
            <a:off x="274320" y="3794760"/>
            <a:ext cx="7772400" cy="3657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4320" y="388620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 do Churrasco  ·  Estância Churrascaria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74320" y="4343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Março 2026  ·  Confidencial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C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ATUAL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0" y="10972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C1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LocalRise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2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Como seu cliente escolhe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um restaurante hoje?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365760" y="2194560"/>
            <a:ext cx="2651760" cy="2560320"/>
          </a:xfrm>
          <a:prstGeom prst="rect">
            <a:avLst/>
          </a:prstGeom>
          <a:solidFill>
            <a:srgbClr val="0A0A0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194560"/>
            <a:ext cx="2651760" cy="64008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7744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65760" y="28803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C1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82%</a:t>
            </a:r>
            <a:endParaRPr lang="en-US" sz="4200" dirty="0"/>
          </a:p>
        </p:txBody>
      </p:sp>
      <p:sp>
        <p:nvSpPr>
          <p:cNvPr id="11" name="Text 8"/>
          <p:cNvSpPr/>
          <p:nvPr/>
        </p:nvSpPr>
        <p:spPr>
          <a:xfrm>
            <a:off x="502920" y="356616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clientes pesquisam no Google antes de sair de casa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3264408" y="2194560"/>
            <a:ext cx="2651760" cy="2560320"/>
          </a:xfrm>
          <a:prstGeom prst="rect">
            <a:avLst/>
          </a:prstGeom>
          <a:solidFill>
            <a:srgbClr val="0A0A0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64408" y="2194560"/>
            <a:ext cx="2651760" cy="64008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288" y="237744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264408" y="28803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C1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67%</a:t>
            </a:r>
            <a:endParaRPr lang="en-US" sz="4200" dirty="0"/>
          </a:p>
        </p:txBody>
      </p:sp>
      <p:sp>
        <p:nvSpPr>
          <p:cNvPr id="16" name="Text 12"/>
          <p:cNvSpPr/>
          <p:nvPr/>
        </p:nvSpPr>
        <p:spPr>
          <a:xfrm>
            <a:off x="3401568" y="356616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escolhem o restaurante pelo que aparece no Google Maps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6153912" y="2194560"/>
            <a:ext cx="2651760" cy="2560320"/>
          </a:xfrm>
          <a:prstGeom prst="rect">
            <a:avLst/>
          </a:prstGeom>
          <a:solidFill>
            <a:srgbClr val="0A0A0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53912" y="2194560"/>
            <a:ext cx="2651760" cy="64008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237744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153912" y="28803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C1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3x</a:t>
            </a:r>
            <a:endParaRPr lang="en-US" sz="4200" dirty="0"/>
          </a:p>
        </p:txBody>
      </p:sp>
      <p:sp>
        <p:nvSpPr>
          <p:cNvPr id="21" name="Text 16"/>
          <p:cNvSpPr/>
          <p:nvPr/>
        </p:nvSpPr>
        <p:spPr>
          <a:xfrm>
            <a:off x="6291072" y="356616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chances de visita com perfil bem avaliado e completo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0" y="10972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C1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LocalRise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3 / 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C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 INVISÍVEL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5303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i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"Se você não aparece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i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bem no Google,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i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você não existe."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365760" y="3291840"/>
            <a:ext cx="4572000" cy="36576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429000"/>
            <a:ext cx="5303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os dias, dezenas de pessoas buscam por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'churrascaria perto de mim' no Google.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os seus restaurantes nao aparecem entre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primeiros -- esse cliente vai para o concorrente.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0" y="640080"/>
            <a:ext cx="2834640" cy="411480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0" y="640080"/>
            <a:ext cx="2834640" cy="64008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0" y="1005840"/>
            <a:ext cx="1097280" cy="10972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035040" y="22860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 perdidos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dia sem presença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otimizada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943600" y="324612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CC1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15–40</a:t>
            </a:r>
            <a:endParaRPr lang="en-US" sz="5400" dirty="0"/>
          </a:p>
        </p:txBody>
      </p:sp>
      <p:sp>
        <p:nvSpPr>
          <p:cNvPr id="14" name="Text 11"/>
          <p:cNvSpPr/>
          <p:nvPr/>
        </p:nvSpPr>
        <p:spPr>
          <a:xfrm>
            <a:off x="5943600" y="40233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potenciais visitas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C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DA PRESENÇA DIGITAL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0" y="10972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C1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LocalRise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4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Diagnóstico real — Dois restaurantes, dois problemas graves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4160520" cy="3200400"/>
          </a:xfrm>
          <a:prstGeom prst="rect">
            <a:avLst/>
          </a:prstGeom>
          <a:solidFill>
            <a:srgbClr val="0A0A0A"/>
          </a:solidFill>
          <a:ln w="12700">
            <a:solidFill>
              <a:srgbClr val="E5B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691640"/>
            <a:ext cx="4160520" cy="438912"/>
          </a:xfrm>
          <a:prstGeom prst="rect">
            <a:avLst/>
          </a:prstGeom>
          <a:solidFill>
            <a:srgbClr val="2A1F00"/>
          </a:solidFill>
          <a:ln w="12700">
            <a:solidFill>
              <a:srgbClr val="E5B8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691640"/>
            <a:ext cx="64008" cy="3200400"/>
          </a:xfrm>
          <a:prstGeom prst="rect">
            <a:avLst/>
          </a:prstGeom>
          <a:solidFill>
            <a:srgbClr val="E5B800"/>
          </a:solidFill>
          <a:ln w="12700">
            <a:solidFill>
              <a:srgbClr val="E5B8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691640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B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Terra do Churrasco  ⚠ ATENÇÃO</a:t>
            </a:r>
            <a:endParaRPr lang="en-US" sz="12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340864"/>
            <a:ext cx="256032" cy="25603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86968" y="2249424"/>
            <a:ext cx="3493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5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site próprio — 100% dependente de app terceiro</a:t>
            </a:r>
            <a:endParaRPr lang="en-US" sz="115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862072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86968" y="2770632"/>
            <a:ext cx="3493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5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Facebook: apenas 130 seguidores — canal morto</a:t>
            </a:r>
            <a:endParaRPr lang="en-US" sz="11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383280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86968" y="3291840"/>
            <a:ext cx="3493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5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42.200 seguidores no Insta sem nenhuma conversão</a:t>
            </a:r>
            <a:endParaRPr lang="en-US" sz="11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904488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86968" y="3813048"/>
            <a:ext cx="3493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5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Avaliações negativas sem resposta do dono</a:t>
            </a:r>
            <a:endParaRPr lang="en-US" sz="11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4425696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86968" y="4334256"/>
            <a:ext cx="3493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5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Fora do top 3 nas buscas de 'churrascaria POA'</a:t>
            </a:r>
            <a:endParaRPr lang="en-US" sz="1150" dirty="0"/>
          </a:p>
        </p:txBody>
      </p:sp>
      <p:sp>
        <p:nvSpPr>
          <p:cNvPr id="21" name="Shape 14"/>
          <p:cNvSpPr/>
          <p:nvPr/>
        </p:nvSpPr>
        <p:spPr>
          <a:xfrm>
            <a:off x="4663440" y="1691640"/>
            <a:ext cx="4160520" cy="3200400"/>
          </a:xfrm>
          <a:prstGeom prst="rect">
            <a:avLst/>
          </a:prstGeom>
          <a:solidFill>
            <a:srgbClr val="0A0A0A"/>
          </a:solidFill>
          <a:ln w="12700">
            <a:solidFill>
              <a:srgbClr val="CC10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4663440" y="1691640"/>
            <a:ext cx="4160520" cy="438912"/>
          </a:xfrm>
          <a:prstGeom prst="rect">
            <a:avLst/>
          </a:prstGeom>
          <a:solidFill>
            <a:srgbClr val="8B0000">
              <a:alpha val="80000"/>
            </a:srgbClr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4663440" y="1691640"/>
            <a:ext cx="64008" cy="3200400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4846320" y="1691640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1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Estância Churrascaria  ✕ CRÍTICO</a:t>
            </a:r>
            <a:endParaRPr lang="en-US" sz="12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2340864"/>
            <a:ext cx="256032" cy="25603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184648" y="2249424"/>
            <a:ext cx="3493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Google: 3.6 ★ — apenas 21 avaliações no total</a:t>
            </a:r>
            <a:endParaRPr lang="en-US" sz="115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0600" y="2862072"/>
            <a:ext cx="256032" cy="256032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184648" y="2770632"/>
            <a:ext cx="3493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telefone cadastrado no Google Maps</a:t>
            </a:r>
            <a:endParaRPr lang="en-US" sz="115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0600" y="3383280"/>
            <a:ext cx="256032" cy="256032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5184648" y="3291840"/>
            <a:ext cx="3493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site cadastrado no Google Maps</a:t>
            </a:r>
            <a:endParaRPr lang="en-US" sz="1150" dirty="0"/>
          </a:p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00600" y="3904488"/>
            <a:ext cx="256032" cy="256032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5184648" y="3813048"/>
            <a:ext cx="3493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Instagram: 15 posts — conta praticamente inativa</a:t>
            </a:r>
            <a:endParaRPr lang="en-US" sz="1150" dirty="0"/>
          </a:p>
        </p:txBody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00600" y="4425696"/>
            <a:ext cx="256032" cy="256032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5184648" y="4334256"/>
            <a:ext cx="3493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TripAdvisor: 1.9/5 — afasta clientes ativamente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0" y="10972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C1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LocalRise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5 / 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C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· SEO LOCAL / MAPS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Onde os clientes procuram — e vocês somem.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5212080" cy="329184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764792"/>
            <a:ext cx="256032" cy="256032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556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!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1737360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Terra: 943 avaliações · Estância: apenas 21 — invisível no Maps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2359152"/>
            <a:ext cx="256032" cy="256032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3500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!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2331720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Estância sem telefone E sem site no perfil Google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2953512"/>
            <a:ext cx="256032" cy="256032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9443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!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2926080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TripAdvisor da Estância: 1.9/5 — afasta clientes ativamente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3547872"/>
            <a:ext cx="256032" cy="256032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53872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!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3520440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Fotos e categorias mal configuradas — palavras-chave erradas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4142232"/>
            <a:ext cx="256032" cy="256032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13308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!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4114800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Avaliações negativas sem resposta prejudicam a autoridade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806440" y="1554480"/>
            <a:ext cx="2971800" cy="3291840"/>
          </a:xfrm>
          <a:prstGeom prst="rect">
            <a:avLst/>
          </a:prstGeom>
          <a:solidFill>
            <a:srgbClr val="8B0000">
              <a:alpha val="15000"/>
            </a:srgbClr>
          </a:solidFill>
          <a:ln w="12700">
            <a:solidFill>
              <a:srgbClr val="CC10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806440" y="1554480"/>
            <a:ext cx="2971800" cy="64008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97880" y="169164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C1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Voz do cliente</a:t>
            </a:r>
            <a:endParaRPr lang="en-US" sz="120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2148840"/>
            <a:ext cx="548640" cy="54864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897880" y="2788920"/>
            <a:ext cx="2788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i="1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"Estou tentando ha dias contato pelo Instagram e nada de retornarem, tendo em vista que lugar algum tem um telefone disponivel."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897880" y="420624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Cliente real, Estância Churrascaria, 2★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36576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Análise parcial. Diagnóstico completo disponível após contratação.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C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CONCORRÊNCIA · TERRA DO CHURRASCO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0" y="10972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C1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LocalRise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6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Nota melhor. Mas os concorrentes</a:t>
            </a:r>
            <a:endParaRPr lang="en-US" sz="2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 enterram no Google.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0040" y="2212848"/>
            <a:ext cx="2743200" cy="2697480"/>
          </a:xfrm>
          <a:prstGeom prst="rect">
            <a:avLst/>
          </a:prstGeom>
          <a:solidFill>
            <a:srgbClr val="1A1200"/>
          </a:solidFill>
          <a:ln w="12700">
            <a:solidFill>
              <a:srgbClr val="E5B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2212848"/>
            <a:ext cx="2743200" cy="64008"/>
          </a:xfrm>
          <a:prstGeom prst="rect">
            <a:avLst/>
          </a:prstGeom>
          <a:solidFill>
            <a:srgbClr val="E5B800"/>
          </a:solidFill>
          <a:ln w="12700">
            <a:solidFill>
              <a:srgbClr val="E5B8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2304288"/>
            <a:ext cx="2523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Churrascaria Garcias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2852928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5B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7.866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411480" y="371246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avaliações no Google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9768" y="4041648"/>
            <a:ext cx="2523744" cy="3657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4114800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E5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Aparece primeiro em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E5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'churrascaria Porto Alegre'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18688" y="2212848"/>
            <a:ext cx="2743200" cy="2697480"/>
          </a:xfrm>
          <a:prstGeom prst="rect">
            <a:avLst/>
          </a:prstGeom>
          <a:solidFill>
            <a:srgbClr val="1A1200"/>
          </a:solidFill>
          <a:ln w="12700">
            <a:solidFill>
              <a:srgbClr val="E5B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18688" y="2212848"/>
            <a:ext cx="2743200" cy="64008"/>
          </a:xfrm>
          <a:prstGeom prst="rect">
            <a:avLst/>
          </a:prstGeom>
          <a:solidFill>
            <a:srgbClr val="E5B800"/>
          </a:solidFill>
          <a:ln w="12700">
            <a:solidFill>
              <a:srgbClr val="E5B8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28416" y="2304288"/>
            <a:ext cx="2523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Churrascaria Barranco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18688" y="2852928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5B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7.861</a:t>
            </a:r>
            <a:endParaRPr lang="en-US" sz="5600" dirty="0"/>
          </a:p>
        </p:txBody>
      </p:sp>
      <p:sp>
        <p:nvSpPr>
          <p:cNvPr id="18" name="Text 16"/>
          <p:cNvSpPr/>
          <p:nvPr/>
        </p:nvSpPr>
        <p:spPr>
          <a:xfrm>
            <a:off x="3310128" y="371246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avaliações no Google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28416" y="4041648"/>
            <a:ext cx="2523744" cy="3657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10128" y="4114800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E5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sempre presente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E5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 buscas locais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26480" y="2212848"/>
            <a:ext cx="2743200" cy="2697480"/>
          </a:xfrm>
          <a:prstGeom prst="rect">
            <a:avLst/>
          </a:prstGeom>
          <a:solidFill>
            <a:srgbClr val="1A0808"/>
          </a:solidFill>
          <a:ln w="25400">
            <a:solidFill>
              <a:srgbClr val="CC10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26480" y="2212848"/>
            <a:ext cx="2743200" cy="64008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36208" y="2304288"/>
            <a:ext cx="2523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Terra do Churrasco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26480" y="2852928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66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943</a:t>
            </a:r>
            <a:endParaRPr lang="en-US" sz="5600" dirty="0"/>
          </a:p>
        </p:txBody>
      </p:sp>
      <p:sp>
        <p:nvSpPr>
          <p:cNvPr id="25" name="Text 23"/>
          <p:cNvSpPr/>
          <p:nvPr/>
        </p:nvSpPr>
        <p:spPr>
          <a:xfrm>
            <a:off x="6217920" y="371246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avaliações no Google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36208" y="4041648"/>
            <a:ext cx="2523744" cy="3657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4114800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FF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Melhor nota — mas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FF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quase invisível na busca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4754880"/>
            <a:ext cx="8503920" cy="329184"/>
          </a:xfrm>
          <a:prstGeom prst="rect">
            <a:avLst/>
          </a:prstGeom>
          <a:solidFill>
            <a:srgbClr val="0A0A0A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4773168"/>
            <a:ext cx="274320" cy="27432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777240" y="4782312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Google ranqueia quem tem mais prova social — não quem tem a melhor nota. 943 vs 7.866 avaliações.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C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PRESENÇA DIGITAL · SITE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0" y="10972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C1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LocalRise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7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Site fraco = tráfego que some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para o concorrente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65760" y="2103120"/>
            <a:ext cx="8412480" cy="777240"/>
          </a:xfrm>
          <a:prstGeom prst="rect">
            <a:avLst/>
          </a:prstGeom>
          <a:solidFill>
            <a:srgbClr val="0A0A0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103120"/>
            <a:ext cx="73152" cy="777240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67712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" y="21488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Sem site próprio ou site desatualizado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97280" y="248716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uma página própria, você depende 100% de plataformas que não controla.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365760" y="3017520"/>
            <a:ext cx="8412480" cy="777240"/>
          </a:xfrm>
          <a:prstGeom prst="rect">
            <a:avLst/>
          </a:prstGeom>
          <a:solidFill>
            <a:srgbClr val="0A0A0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65760" y="3017520"/>
            <a:ext cx="73152" cy="777240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182112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97280" y="30632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Zero tráfego orgânico do Google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1097280" y="340156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site otimizado atrai clientes diariamente — sem pagar por anúncios.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365760" y="3931920"/>
            <a:ext cx="8412480" cy="777240"/>
          </a:xfrm>
          <a:prstGeom prst="rect">
            <a:avLst/>
          </a:prstGeom>
          <a:solidFill>
            <a:srgbClr val="0A0A0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65760" y="3931920"/>
            <a:ext cx="73152" cy="777240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096512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97280" y="39776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Nenhum canal de conversão direto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097280" y="431596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Cardápio, reservas, WhatsApp e localização num só lugar — isso converte.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5303520" y="2103120"/>
            <a:ext cx="3520440" cy="2697480"/>
          </a:xfrm>
          <a:prstGeom prst="rect">
            <a:avLst/>
          </a:prstGeom>
          <a:solidFill>
            <a:srgbClr val="0A0A0A"/>
          </a:solidFill>
          <a:ln w="12700">
            <a:solidFill>
              <a:srgbClr val="CC10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5303520" y="2286000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CC1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76%</a:t>
            </a:r>
            <a:endParaRPr lang="en-US" sz="7200" dirty="0"/>
          </a:p>
        </p:txBody>
      </p:sp>
      <p:sp>
        <p:nvSpPr>
          <p:cNvPr id="24" name="Text 19"/>
          <p:cNvSpPr/>
          <p:nvPr/>
        </p:nvSpPr>
        <p:spPr>
          <a:xfrm>
            <a:off x="5394960" y="3337560"/>
            <a:ext cx="3337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consumidores visitam</a:t>
            </a:r>
            <a:endParaRPr lang="en-US" sz="13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site antes de ir ao</a:t>
            </a:r>
            <a:endParaRPr lang="en-US" sz="13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restaurante pela primeira vez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0" y="10972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C1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LocalRise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8 / 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C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· REDES SOCIAIS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Seguidores sem estratégia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não enchem mesas.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4023360" cy="288036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920240"/>
            <a:ext cx="4023360" cy="64008"/>
          </a:xfrm>
          <a:prstGeom prst="rect">
            <a:avLst/>
          </a:prstGeom>
          <a:solidFill>
            <a:srgbClr val="E5B800"/>
          </a:solidFill>
          <a:ln w="12700">
            <a:solidFill>
              <a:srgbClr val="E5B80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5740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51560" y="202996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B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@terradochurrascors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65760" y="256032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42.200</a:t>
            </a:r>
            <a:endParaRPr lang="en-US" sz="5200" dirty="0"/>
          </a:p>
        </p:txBody>
      </p:sp>
      <p:sp>
        <p:nvSpPr>
          <p:cNvPr id="12" name="Text 9"/>
          <p:cNvSpPr/>
          <p:nvPr/>
        </p:nvSpPr>
        <p:spPr>
          <a:xfrm>
            <a:off x="365760" y="33375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seguidores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02920" y="3730752"/>
            <a:ext cx="3749040" cy="3657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" y="3785616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5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Forte audiência, zero conversão para mesas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709160" y="1920240"/>
            <a:ext cx="4069080" cy="2880360"/>
          </a:xfrm>
          <a:prstGeom prst="rect">
            <a:avLst/>
          </a:prstGeom>
          <a:solidFill>
            <a:srgbClr val="1A1A1A"/>
          </a:solidFill>
          <a:ln w="12700">
            <a:solidFill>
              <a:srgbClr val="CC10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709160" y="1920240"/>
            <a:ext cx="4069080" cy="64008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057400"/>
            <a:ext cx="411480" cy="4114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394960" y="202996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C1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@estancia_churrascaria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4709160" y="2560320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8.858</a:t>
            </a:r>
            <a:endParaRPr lang="en-US" sz="5200" dirty="0"/>
          </a:p>
        </p:txBody>
      </p:sp>
      <p:sp>
        <p:nvSpPr>
          <p:cNvPr id="20" name="Text 16"/>
          <p:cNvSpPr/>
          <p:nvPr/>
        </p:nvSpPr>
        <p:spPr>
          <a:xfrm>
            <a:off x="4709160" y="3337560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seguidores  ·  apenas 15 posts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4846320" y="3730752"/>
            <a:ext cx="3794760" cy="3657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846320" y="3785616"/>
            <a:ext cx="3794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 inativa. Anos de operação com</a:t>
            </a:r>
            <a:endParaRPr lang="en-US" sz="11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posts — o concorrente posta mais</a:t>
            </a:r>
            <a:endParaRPr lang="en-US" sz="11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uma semana.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0" y="10972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C1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LocalRise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9 / 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C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CONCORRÊNCIA · ESTÂNCIA CHURRASCARIA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concorrente está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219 metros de distância.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20040" y="1920240"/>
            <a:ext cx="3977640" cy="2880360"/>
          </a:xfrm>
          <a:prstGeom prst="rect">
            <a:avLst/>
          </a:prstGeom>
          <a:solidFill>
            <a:srgbClr val="1A1A1A"/>
          </a:solidFill>
          <a:ln w="25400">
            <a:solidFill>
              <a:srgbClr val="CC10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920240"/>
            <a:ext cx="3977640" cy="457200"/>
          </a:xfrm>
          <a:prstGeom prst="rect">
            <a:avLst/>
          </a:prstGeom>
          <a:solidFill>
            <a:srgbClr val="8B0000">
              <a:alpha val="90000"/>
            </a:srgbClr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202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Estância Churrascaria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4871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Rua Dr. Timóteo, 246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85292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Maps: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31720" y="285292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6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3.6 ★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17296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avaliações: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31720" y="317296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6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49300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Telefone no Google: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331720" y="349300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6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Ausente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81304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no Google: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331720" y="381304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6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Ausente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13308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posts: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331720" y="413308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6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 posts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45312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TripAdvisor: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331720" y="445312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6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1.9 / 5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206240" y="3154680"/>
            <a:ext cx="731520" cy="731520"/>
          </a:xfrm>
          <a:prstGeom prst="ellipse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06240" y="3154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46320" y="1920240"/>
            <a:ext cx="3977640" cy="2880360"/>
          </a:xfrm>
          <a:prstGeom prst="rect">
            <a:avLst/>
          </a:prstGeom>
          <a:solidFill>
            <a:srgbClr val="0D2010"/>
          </a:solidFill>
          <a:ln w="25400">
            <a:solidFill>
              <a:srgbClr val="00C8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1920240"/>
            <a:ext cx="3977640" cy="457200"/>
          </a:xfrm>
          <a:prstGeom prst="rect">
            <a:avLst/>
          </a:prstGeom>
          <a:solidFill>
            <a:srgbClr val="0A3015"/>
          </a:solidFill>
          <a:ln w="12700">
            <a:solidFill>
              <a:srgbClr val="00C85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19202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Santo Antonio  ✓ DOMINA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83480" y="24871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B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Rua Dr. Timóteo, 465  (mesma rua!)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83480" y="285292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Maps: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58000" y="285292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4.7 ★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83480" y="317296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avaliações: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58000" y="317296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4.896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83480" y="349300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Telefone no Google: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58000" y="349300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Cadastrado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83480" y="381304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próprio: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58000" y="381304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Ativo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983480" y="413308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Fundação: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858000" y="413308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BB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Desde 1935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983480" y="445312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Reputação: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858000" y="445312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BB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Referência local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20040" y="4736592"/>
            <a:ext cx="8503920" cy="329184"/>
          </a:xfrm>
          <a:prstGeom prst="rect">
            <a:avLst/>
          </a:prstGeom>
          <a:solidFill>
            <a:srgbClr val="8B0000">
              <a:alpha val="70000"/>
            </a:srgbClr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7548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alguém busca 'churrascaria' nessa rua, o Google mostra Santo Antonio. Isso muda agora.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C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REAL — MESMO DONO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0" y="10972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C1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LocalRise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10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Dois restaurantes com problemas.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Dobro do dinheiro sendo perdido todo mês.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2194560"/>
            <a:ext cx="3931920" cy="2606040"/>
          </a:xfrm>
          <a:prstGeom prst="rect">
            <a:avLst/>
          </a:prstGeom>
          <a:solidFill>
            <a:srgbClr val="0A0A0A"/>
          </a:solidFill>
          <a:ln w="12700">
            <a:solidFill>
              <a:srgbClr val="E5B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194560"/>
            <a:ext cx="3931920" cy="438912"/>
          </a:xfrm>
          <a:prstGeom prst="rect">
            <a:avLst/>
          </a:prstGeom>
          <a:solidFill>
            <a:srgbClr val="2A1F00"/>
          </a:solidFill>
          <a:ln w="12700">
            <a:solidFill>
              <a:srgbClr val="2A1F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194560"/>
            <a:ext cx="64008" cy="2606040"/>
          </a:xfrm>
          <a:prstGeom prst="rect">
            <a:avLst/>
          </a:prstGeom>
          <a:solidFill>
            <a:srgbClr val="E5B800"/>
          </a:solidFill>
          <a:ln w="12700">
            <a:solidFill>
              <a:srgbClr val="E5B8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2194560"/>
            <a:ext cx="3611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B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Terra do Churrasco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862072"/>
            <a:ext cx="201168" cy="201168"/>
          </a:xfrm>
          <a:prstGeom prst="ellipse">
            <a:avLst/>
          </a:prstGeom>
          <a:solidFill>
            <a:srgbClr val="E5B800"/>
          </a:solidFill>
          <a:ln w="12700">
            <a:solidFill>
              <a:srgbClr val="E5B8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85292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A0A"/>
                </a:solidFill>
              </a:rPr>
              <a:t>!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2960" y="2770632"/>
            <a:ext cx="3337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de terceiro: zero tráfego orgânico para você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337560"/>
            <a:ext cx="201168" cy="201168"/>
          </a:xfrm>
          <a:prstGeom prst="ellipse">
            <a:avLst/>
          </a:prstGeom>
          <a:solidFill>
            <a:srgbClr val="E5B800"/>
          </a:solidFill>
          <a:ln w="12700">
            <a:solidFill>
              <a:srgbClr val="E5B8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32841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A0A"/>
                </a:solidFill>
              </a:rPr>
              <a:t>!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" y="3246120"/>
            <a:ext cx="3337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42K seguidores que não viraram uma mesa sequer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3813048"/>
            <a:ext cx="201168" cy="201168"/>
          </a:xfrm>
          <a:prstGeom prst="ellipse">
            <a:avLst/>
          </a:prstGeom>
          <a:solidFill>
            <a:srgbClr val="E5B800"/>
          </a:solidFill>
          <a:ln w="12700">
            <a:solidFill>
              <a:srgbClr val="E5B8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80390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A0A"/>
                </a:solidFill>
              </a:rPr>
              <a:t>!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2960" y="3721608"/>
            <a:ext cx="3337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 invisível: oportunidade desperdiçada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4288536"/>
            <a:ext cx="201168" cy="201168"/>
          </a:xfrm>
          <a:prstGeom prst="ellipse">
            <a:avLst/>
          </a:prstGeom>
          <a:solidFill>
            <a:srgbClr val="E5B800"/>
          </a:solidFill>
          <a:ln w="12700">
            <a:solidFill>
              <a:srgbClr val="E5B8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27939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A0A"/>
                </a:solidFill>
              </a:rPr>
              <a:t>!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2960" y="4197096"/>
            <a:ext cx="3337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Avaliações negativas sem resposta — credibilidade caindo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0" y="2194560"/>
            <a:ext cx="4206240" cy="2606040"/>
          </a:xfrm>
          <a:prstGeom prst="rect">
            <a:avLst/>
          </a:prstGeom>
          <a:solidFill>
            <a:srgbClr val="0A0A0A"/>
          </a:solidFill>
          <a:ln w="12700">
            <a:solidFill>
              <a:srgbClr val="CC10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0" y="2194560"/>
            <a:ext cx="4206240" cy="438912"/>
          </a:xfrm>
          <a:prstGeom prst="rect">
            <a:avLst/>
          </a:prstGeom>
          <a:solidFill>
            <a:srgbClr val="8B0000">
              <a:alpha val="80000"/>
            </a:srgbClr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2194560"/>
            <a:ext cx="64008" cy="2606040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36592" y="2194560"/>
            <a:ext cx="3858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1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Estância Churrascaria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709160" y="2862072"/>
            <a:ext cx="201168" cy="201168"/>
          </a:xfrm>
          <a:prstGeom prst="ellipse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285292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✕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29200" y="2770632"/>
            <a:ext cx="3611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3.6★ e 21 reviews: o cliente passa direto pela porta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709160" y="3337560"/>
            <a:ext cx="201168" cy="201168"/>
          </a:xfrm>
          <a:prstGeom prst="ellipse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332841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✕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29200" y="3246120"/>
            <a:ext cx="3611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Concorrente a 219m tem 4.7★ e 4.896 avaliações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709160" y="3813048"/>
            <a:ext cx="201168" cy="201168"/>
          </a:xfrm>
          <a:prstGeom prst="ellipse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380390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✕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029200" y="3721608"/>
            <a:ext cx="3611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telefone e sem site no Google — invisível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709160" y="4288536"/>
            <a:ext cx="201168" cy="201168"/>
          </a:xfrm>
          <a:prstGeom prst="ellipse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9160" y="427939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29200" y="4197096"/>
            <a:ext cx="3611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TripAdvisor 1.9/5: pior do que não estar lá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365760" y="4754880"/>
            <a:ext cx="8412480" cy="329184"/>
          </a:xfrm>
          <a:prstGeom prst="rect">
            <a:avLst/>
          </a:prstGeom>
          <a:solidFill>
            <a:srgbClr val="0A0A0A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4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4773168"/>
            <a:ext cx="274320" cy="274320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822960" y="477316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Dois restaurantes = dobro do potencial. Hoje, esse potencial vai direto para o concorrente.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C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OPORTUNIDADE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0" y="10972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C1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LocalRise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11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mercado está crescendo.</a:t>
            </a:r>
            <a:endParaRPr lang="en-US" sz="2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pergunta é: quem vai capturar esse crescimento?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2331720"/>
            <a:ext cx="4114800" cy="1097280"/>
          </a:xfrm>
          <a:prstGeom prst="rect">
            <a:avLst/>
          </a:prstGeom>
          <a:solidFill>
            <a:srgbClr val="0A0A0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331720"/>
            <a:ext cx="64008" cy="1097280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2651760"/>
            <a:ext cx="438912" cy="4389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" y="2404872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C1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+200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1097280" y="2898648"/>
            <a:ext cx="3154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novos clientes potenciais por mês com SEO Local ativo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663440" y="2331720"/>
            <a:ext cx="4114800" cy="1097280"/>
          </a:xfrm>
          <a:prstGeom prst="rect">
            <a:avLst/>
          </a:prstGeom>
          <a:solidFill>
            <a:srgbClr val="0A0A0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63440" y="2331720"/>
            <a:ext cx="64008" cy="1097280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2651760"/>
            <a:ext cx="438912" cy="43891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94960" y="2404872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C1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+60%</a:t>
            </a:r>
            <a:endParaRPr lang="en-US" sz="3200" dirty="0"/>
          </a:p>
        </p:txBody>
      </p:sp>
      <p:sp>
        <p:nvSpPr>
          <p:cNvPr id="16" name="Text 12"/>
          <p:cNvSpPr/>
          <p:nvPr/>
        </p:nvSpPr>
        <p:spPr>
          <a:xfrm>
            <a:off x="5394960" y="2898648"/>
            <a:ext cx="3154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ligações e mensagens com perfil Google otimizado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365760" y="3566160"/>
            <a:ext cx="4114800" cy="1097280"/>
          </a:xfrm>
          <a:prstGeom prst="rect">
            <a:avLst/>
          </a:prstGeom>
          <a:solidFill>
            <a:srgbClr val="0A0A0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65760" y="3566160"/>
            <a:ext cx="64008" cy="1097280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886200"/>
            <a:ext cx="438912" cy="43891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97280" y="3639312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C1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Top 3</a:t>
            </a:r>
            <a:endParaRPr lang="en-US" sz="3200" dirty="0"/>
          </a:p>
        </p:txBody>
      </p:sp>
      <p:sp>
        <p:nvSpPr>
          <p:cNvPr id="21" name="Text 16"/>
          <p:cNvSpPr/>
          <p:nvPr/>
        </p:nvSpPr>
        <p:spPr>
          <a:xfrm>
            <a:off x="1097280" y="4133088"/>
            <a:ext cx="3154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Google Maps com estratégia de palavras-chave local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4663440" y="3566160"/>
            <a:ext cx="4114800" cy="1097280"/>
          </a:xfrm>
          <a:prstGeom prst="rect">
            <a:avLst/>
          </a:prstGeom>
          <a:solidFill>
            <a:srgbClr val="0A0A0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663440" y="3566160"/>
            <a:ext cx="64008" cy="1097280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3886200"/>
            <a:ext cx="438912" cy="43891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394960" y="3639312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C1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×3</a:t>
            </a:r>
            <a:endParaRPr lang="en-US" sz="3200" dirty="0"/>
          </a:p>
        </p:txBody>
      </p:sp>
      <p:sp>
        <p:nvSpPr>
          <p:cNvPr id="26" name="Text 20"/>
          <p:cNvSpPr/>
          <p:nvPr/>
        </p:nvSpPr>
        <p:spPr>
          <a:xfrm>
            <a:off x="5394960" y="4133088"/>
            <a:ext cx="3154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conversões de visitas orgânicas em reservas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C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SOLUÇÃO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45720"/>
            <a:ext cx="658368" cy="658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12 / 17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365760" y="9144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LocalRise Advisory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365760" y="15087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Crescimento digital focado em gerar clientes reais — não apenas curtidas.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65760" y="2103120"/>
            <a:ext cx="4114800" cy="1188720"/>
          </a:xfrm>
          <a:prstGeom prst="rect">
            <a:avLst/>
          </a:prstGeom>
          <a:solidFill>
            <a:srgbClr val="0A0A0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5760" y="2103120"/>
            <a:ext cx="4114800" cy="64008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233172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0" y="221284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SEO Local · Google Maps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143000" y="26060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Aparecer nos primeiros resultados quando alguém busca churrascaria na sua cidade.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663440" y="2103120"/>
            <a:ext cx="4114800" cy="1188720"/>
          </a:xfrm>
          <a:prstGeom prst="rect">
            <a:avLst/>
          </a:prstGeom>
          <a:solidFill>
            <a:srgbClr val="0A0A0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663440" y="2103120"/>
            <a:ext cx="4114800" cy="64008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233172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40680" y="221284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Site Profissional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5440680" y="26060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rapido, bonito e otimizado que converte visitantes em clientes.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365760" y="3429000"/>
            <a:ext cx="4114800" cy="1188720"/>
          </a:xfrm>
          <a:prstGeom prst="rect">
            <a:avLst/>
          </a:prstGeom>
          <a:solidFill>
            <a:srgbClr val="0A0A0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365760" y="3429000"/>
            <a:ext cx="4114800" cy="64008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365760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143000" y="353872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Estratégia de Instagram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1143000" y="393192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Conteúdo que vende: chamadas para ação, integração com Google e posicionamento local.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4663440" y="3429000"/>
            <a:ext cx="4114800" cy="1188720"/>
          </a:xfrm>
          <a:prstGeom prst="rect">
            <a:avLst/>
          </a:prstGeom>
          <a:solidFill>
            <a:srgbClr val="0A0A0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663440" y="3429000"/>
            <a:ext cx="4114800" cy="64008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2" y="3657600"/>
            <a:ext cx="457200" cy="4572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440680" y="353872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Foco em Geração de Clientes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5440680" y="393192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fazemos marketing pelo marketing. Fazemos para encher o restaurante.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0" y="10972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C1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LocalRise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13 / 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C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FUNCIONAMOS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Processo claro. Resultado previsível.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965960" y="1874520"/>
            <a:ext cx="5303520" cy="4572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1600200"/>
            <a:ext cx="548640" cy="548640"/>
          </a:xfrm>
          <a:prstGeom prst="ellipse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286000"/>
            <a:ext cx="1920240" cy="251460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423160"/>
            <a:ext cx="457200" cy="457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11480" y="29718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C1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Diagnóstico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75488" y="3401568"/>
            <a:ext cx="17007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completa da presença digital, concorrência e oportunidades locais.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108960" y="1600200"/>
            <a:ext cx="548640" cy="548640"/>
          </a:xfrm>
          <a:prstGeom prst="ellipse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108960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2514600" y="2286000"/>
            <a:ext cx="1920240" cy="251460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2423160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560320" y="29718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C1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Implementação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2624328" y="3401568"/>
            <a:ext cx="17007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Otimização do Google Business Profile, criação do site e estrutura de Instagram.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5257800" y="1600200"/>
            <a:ext cx="548640" cy="548640"/>
          </a:xfrm>
          <a:prstGeom prst="ellipse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257800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4663440" y="2286000"/>
            <a:ext cx="1920240" cy="251460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423160"/>
            <a:ext cx="457200" cy="4572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709160" y="29718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C1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Otimização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4773168" y="3401568"/>
            <a:ext cx="17007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Ajustes mensais baseados em dados reais: posição no Maps, tráfego e conversões.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7406640" y="1600200"/>
            <a:ext cx="548640" cy="548640"/>
          </a:xfrm>
          <a:prstGeom prst="ellipse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7406640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6812280" y="2286000"/>
            <a:ext cx="1920240" cy="251460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2423160"/>
            <a:ext cx="457200" cy="45720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858000" y="29718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C1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Crescimento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6922008" y="3401568"/>
            <a:ext cx="17007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Relatórios mensais e acompanhamento contínuo para crescimento sustentável.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C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ESPERADOS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0" y="10972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C1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LocalRise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14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que muda nos primeiros 90 dias: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2651760" cy="1371600"/>
          </a:xfrm>
          <a:prstGeom prst="rect">
            <a:avLst/>
          </a:prstGeom>
          <a:solidFill>
            <a:srgbClr val="0A0A0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691640"/>
            <a:ext cx="64008" cy="1371600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2148840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51560" y="1783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Mais visibilidade no Maps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51560" y="2240280"/>
            <a:ext cx="1828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Restaurante aparece no topo das buscas locais da sua região.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246120" y="1691640"/>
            <a:ext cx="2651760" cy="1371600"/>
          </a:xfrm>
          <a:prstGeom prst="rect">
            <a:avLst/>
          </a:prstGeom>
          <a:solidFill>
            <a:srgbClr val="0A0A0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46120" y="1691640"/>
            <a:ext cx="64008" cy="1371600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0712" y="2148840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31920" y="1783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Mais ligações e mensagens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931920" y="2240280"/>
            <a:ext cx="1828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 encontram e entram em contato direto com facilidade.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126480" y="1691640"/>
            <a:ext cx="2651760" cy="1371600"/>
          </a:xfrm>
          <a:prstGeom prst="rect">
            <a:avLst/>
          </a:prstGeom>
          <a:solidFill>
            <a:srgbClr val="0A0A0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26480" y="1691640"/>
            <a:ext cx="64008" cy="1371600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2148840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812280" y="1783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Mais visitas no restaurante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812280" y="2240280"/>
            <a:ext cx="1828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Conversão de buscas em clientes físicos, de forma consistente.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365760" y="3246120"/>
            <a:ext cx="2651760" cy="1371600"/>
          </a:xfrm>
          <a:prstGeom prst="rect">
            <a:avLst/>
          </a:prstGeom>
          <a:solidFill>
            <a:srgbClr val="0A0A0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365760" y="3246120"/>
            <a:ext cx="64008" cy="1371600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3703320"/>
            <a:ext cx="384048" cy="38404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51560" y="3337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Mais avaliações positivas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1051560" y="3794760"/>
            <a:ext cx="1828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Estratégia ativa de captação e gestão de reviews no Google.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3246120" y="3246120"/>
            <a:ext cx="2651760" cy="1371600"/>
          </a:xfrm>
          <a:prstGeom prst="rect">
            <a:avLst/>
          </a:prstGeom>
          <a:solidFill>
            <a:srgbClr val="0A0A0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3246120" y="3246120"/>
            <a:ext cx="64008" cy="1371600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0712" y="3703320"/>
            <a:ext cx="384048" cy="38404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3931920" y="3337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Crescimento mensal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3931920" y="3794760"/>
            <a:ext cx="1828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Relatórios com dados reais mostrando a evolução mês a mês.</a:t>
            </a:r>
            <a:endParaRPr lang="en-US" sz="1150" dirty="0"/>
          </a:p>
        </p:txBody>
      </p:sp>
      <p:sp>
        <p:nvSpPr>
          <p:cNvPr id="32" name="Shape 25"/>
          <p:cNvSpPr/>
          <p:nvPr/>
        </p:nvSpPr>
        <p:spPr>
          <a:xfrm>
            <a:off x="6126480" y="3246120"/>
            <a:ext cx="2651760" cy="1371600"/>
          </a:xfrm>
          <a:prstGeom prst="rect">
            <a:avLst/>
          </a:prstGeom>
          <a:solidFill>
            <a:srgbClr val="0A0A0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6126480" y="3246120"/>
            <a:ext cx="64008" cy="1371600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1072" y="3703320"/>
            <a:ext cx="384048" cy="384048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812280" y="3337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Posicionamento de marca</a:t>
            </a:r>
            <a:endParaRPr lang="en-US" sz="1300" dirty="0"/>
          </a:p>
        </p:txBody>
      </p:sp>
      <p:sp>
        <p:nvSpPr>
          <p:cNvPr id="36" name="Text 28"/>
          <p:cNvSpPr/>
          <p:nvPr/>
        </p:nvSpPr>
        <p:spPr>
          <a:xfrm>
            <a:off x="6812280" y="3794760"/>
            <a:ext cx="1828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Restaurantes reconhecidos como referência local em churrasco.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0" y="10972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C1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LocalRise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15 / 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C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 COMERCIAL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Proposta para os dois restaurantes — mesmo dono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8412480" cy="475488"/>
          </a:xfrm>
          <a:prstGeom prst="rect">
            <a:avLst/>
          </a:prstGeom>
          <a:solidFill>
            <a:srgbClr val="CC1020">
              <a:alpha val="90000"/>
            </a:srgbClr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90472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1490472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Pacote 2 restaurantes: setup + mensalidade com condição especial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65760" y="2084832"/>
            <a:ext cx="4114800" cy="2743200"/>
          </a:xfrm>
          <a:prstGeom prst="rect">
            <a:avLst/>
          </a:prstGeom>
          <a:solidFill>
            <a:srgbClr val="1A1A1A"/>
          </a:solidFill>
          <a:ln w="25400">
            <a:solidFill>
              <a:srgbClr val="CC10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760" y="2084832"/>
            <a:ext cx="4114800" cy="475488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208483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COMPLETO  ★ RECOMENDADO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02920" y="263347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SEO Local + Site + Instagram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02920" y="309067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inicial: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331720" y="309067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1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R$ 14.000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02920" y="343814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Mensalidade: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331720" y="343814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1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R$ 8.000 /mes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02920" y="3794760"/>
            <a:ext cx="3749040" cy="3657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2920" y="388620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Google Business Profile otimizado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502920" y="421538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Site profissional e responsivo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02920" y="454456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Estratégia de Instagram mensal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663440" y="2084832"/>
            <a:ext cx="4114800" cy="274320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663440" y="2084832"/>
            <a:ext cx="4114800" cy="475488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54880" y="208483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ESSENCIAL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800600" y="263347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SEO Local + Site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4800600" y="309067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inicial: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583680" y="309067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R$ 10.000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4800600" y="343814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Mensalidade: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583680" y="343814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R$ 6.000 /mes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4800600" y="3794760"/>
            <a:ext cx="3749040" cy="3657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800600" y="388620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Google Business Profile otimizado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4800600" y="421538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Site profissional e responsivo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4800600" y="454456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Relatório mensal de performance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C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PASSOS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0" y="10972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C1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LocalRise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16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Início imediato — sem burocracia.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286000" y="1984248"/>
            <a:ext cx="228600" cy="45720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1783080"/>
            <a:ext cx="640080" cy="640080"/>
          </a:xfrm>
          <a:prstGeom prst="ellipse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65760" y="2606040"/>
            <a:ext cx="2011680" cy="2194560"/>
          </a:xfrm>
          <a:prstGeom prst="rect">
            <a:avLst/>
          </a:prstGeom>
          <a:solidFill>
            <a:srgbClr val="0A0A0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606040"/>
            <a:ext cx="2011680" cy="64008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788920"/>
            <a:ext cx="457200" cy="4572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57200" y="3337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Decisão hoje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200" y="38404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Aprovação do plano e assinatura do contrato de serviço.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434840" y="1984248"/>
            <a:ext cx="228600" cy="45720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154680" y="1783080"/>
            <a:ext cx="640080" cy="640080"/>
          </a:xfrm>
          <a:prstGeom prst="ellipse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154680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2514600" y="2606040"/>
            <a:ext cx="2011680" cy="2194560"/>
          </a:xfrm>
          <a:prstGeom prst="rect">
            <a:avLst/>
          </a:prstGeom>
          <a:solidFill>
            <a:srgbClr val="0A0A0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2514600" y="2606040"/>
            <a:ext cx="2011680" cy="64008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2788920"/>
            <a:ext cx="457200" cy="4572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2606040" y="3337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Alinhamento estratégico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2606040" y="38404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Reunião de kickoff para entender seus diferenciais e objetivos.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6583680" y="1984248"/>
            <a:ext cx="228600" cy="45720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5303520" y="1783080"/>
            <a:ext cx="640080" cy="640080"/>
          </a:xfrm>
          <a:prstGeom prst="ellipse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303520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6" name="Shape 22"/>
          <p:cNvSpPr/>
          <p:nvPr/>
        </p:nvSpPr>
        <p:spPr>
          <a:xfrm>
            <a:off x="4663440" y="2606040"/>
            <a:ext cx="2011680" cy="2194560"/>
          </a:xfrm>
          <a:prstGeom prst="rect">
            <a:avLst/>
          </a:prstGeom>
          <a:solidFill>
            <a:srgbClr val="0A0A0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4663440" y="2606040"/>
            <a:ext cx="2011680" cy="64008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2788920"/>
            <a:ext cx="457200" cy="45720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4754880" y="3337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Execução imediata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4754880" y="38404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Otimização do GBP e início do desenvolvimento do site na semana 1.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7452360" y="1783080"/>
            <a:ext cx="640080" cy="640080"/>
          </a:xfrm>
          <a:prstGeom prst="ellipse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7452360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33" name="Shape 28"/>
          <p:cNvSpPr/>
          <p:nvPr/>
        </p:nvSpPr>
        <p:spPr>
          <a:xfrm>
            <a:off x="6812280" y="2606040"/>
            <a:ext cx="2011680" cy="2194560"/>
          </a:xfrm>
          <a:prstGeom prst="rect">
            <a:avLst/>
          </a:prstGeom>
          <a:solidFill>
            <a:srgbClr val="0A0A0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6812280" y="2606040"/>
            <a:ext cx="2011680" cy="64008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2788920"/>
            <a:ext cx="457200" cy="45720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903720" y="3337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Primeiros resultados</a:t>
            </a:r>
            <a:endParaRPr lang="en-US" sz="1300" dirty="0"/>
          </a:p>
        </p:txBody>
      </p:sp>
      <p:sp>
        <p:nvSpPr>
          <p:cNvPr id="37" name="Text 31"/>
          <p:cNvSpPr/>
          <p:nvPr/>
        </p:nvSpPr>
        <p:spPr>
          <a:xfrm>
            <a:off x="6903720" y="38404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Visibilidade ampliada e primeiros contatos orgânicos em 30 dias.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3474720" cy="3474720"/>
          </a:xfrm>
          <a:prstGeom prst="ellipse">
            <a:avLst/>
          </a:prstGeom>
          <a:solidFill>
            <a:srgbClr val="8B0000">
              <a:alpha val="80000"/>
            </a:srgbClr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3474720"/>
            <a:ext cx="3474720" cy="3474720"/>
          </a:xfrm>
          <a:prstGeom prst="ellipse">
            <a:avLst/>
          </a:prstGeom>
          <a:solidFill>
            <a:srgbClr val="8B0000">
              <a:alpha val="75000"/>
            </a:srgbClr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4114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1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LocalRise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411480" y="886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11480" y="14173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i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"O mercado já está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411480" y="219456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i="1" dirty="0">
                <a:solidFill>
                  <a:srgbClr val="CC1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acontecendo."</a:t>
            </a:r>
            <a:endParaRPr lang="en-US" sz="4600" dirty="0"/>
          </a:p>
        </p:txBody>
      </p:sp>
      <p:sp>
        <p:nvSpPr>
          <p:cNvPr id="10" name="Text 7"/>
          <p:cNvSpPr/>
          <p:nvPr/>
        </p:nvSpPr>
        <p:spPr>
          <a:xfrm>
            <a:off x="411480" y="3017520"/>
            <a:ext cx="7315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i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decisão é se vocês vão liderar</a:t>
            </a:r>
            <a:endParaRPr lang="en-US" sz="2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600" b="1" i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 ficar para trás.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411480" y="4160520"/>
            <a:ext cx="5486400" cy="3657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" y="4251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localriseai@gmail.com  ·  @localrise.advisory  ·  (51) 98201-6945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Proposta de Crescimento Digital – LocalRise Advisory</dc:title>
  <dc:subject>PptxGenJS Presentation</dc:subject>
  <dc:creator>LocalRise Advisory</dc:creator>
  <cp:lastModifiedBy>LocalRise Advisory</cp:lastModifiedBy>
  <cp:revision>1</cp:revision>
  <dcterms:created xsi:type="dcterms:W3CDTF">2026-03-31T21:31:34Z</dcterms:created>
  <dcterms:modified xsi:type="dcterms:W3CDTF">2026-03-31T21:31:34Z</dcterms:modified>
</cp:coreProperties>
</file>