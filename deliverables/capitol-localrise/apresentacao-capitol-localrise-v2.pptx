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71" y="0"/>
            <a:ext cx="4876848" cy="6858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61271" y="0"/>
            <a:ext cx="125999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6B6F"/>
                </a:solidFill>
                <a:latin typeface="Calibri"/>
              </a:rPr>
              <a:t>PROPOSTA ESTRATEGICA  |  08 de abril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007999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INTELIGENCIA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015999"/>
            <a:ext cx="72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31B23"/>
                </a:solidFill>
                <a:latin typeface="Calibri"/>
              </a:rPr>
              <a:t>REGULATORIA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330000"/>
            <a:ext cx="5400000" cy="43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3474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4C6C8"/>
                </a:solidFill>
                <a:latin typeface="Calibri"/>
              </a:rPr>
              <a:t>COMO VANTAGEM COMPETITIVA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068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86B6F"/>
                </a:solidFill>
                <a:latin typeface="Calibri"/>
              </a:rPr>
              <a:t>Apresentado para Capitol Consultoria</a:t>
            </a:r>
          </a:p>
        </p:txBody>
      </p:sp>
      <p:pic>
        <p:nvPicPr>
          <p:cNvPr id="11" name="Picture 10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5688000"/>
            <a:ext cx="1620000" cy="21601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00" y="4824000"/>
            <a:ext cx="50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Nicolas Slater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07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6B6F"/>
                </a:solidFill>
                <a:latin typeface="Calibri"/>
              </a:rPr>
              <a:t>Diretoria Comercial  |  LocalRise 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3271" y="1260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3271" y="1728000"/>
            <a:ext cx="4300848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3271" y="1835999"/>
            <a:ext cx="4372848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Presenca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3271" y="2484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3271" y="2952000"/>
            <a:ext cx="4300848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3271" y="3060000"/>
            <a:ext cx="4372848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Automacao com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3271" y="3708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3271" y="4176000"/>
            <a:ext cx="4300848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3271" y="4284000"/>
            <a:ext cx="4372848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SaaS 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3271" y="49320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03271" y="5400000"/>
            <a:ext cx="4300848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3271" y="5508000"/>
            <a:ext cx="4372848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ROI em 90 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Sumario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O que vamos apresentar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144000" cy="108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5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1944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Diagnostico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2231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A situacao atual da Capitol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6000" y="1404000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6000" y="1404000"/>
            <a:ext cx="144000" cy="108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8000" y="15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1944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 Oportunidade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8000" y="2231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O que esta sendo deixado na mesa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" y="2628000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8000" y="2628000"/>
            <a:ext cx="144000" cy="108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277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3168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 Solucao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000" y="3456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Automacao + IA + presenca digital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6000" y="2628000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6000" y="2628000"/>
            <a:ext cx="144000" cy="108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8000" y="277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8000" y="3168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Produtos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8000" y="3456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Portfolio de inteligencia regulatoria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000" y="3851999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8000" y="3851999"/>
            <a:ext cx="144000" cy="108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000" y="399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000" y="4392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Pipeline de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000" y="4680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6 agentes, 1 sistema integrado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6000" y="3851999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6000" y="3851999"/>
            <a:ext cx="144000" cy="108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8000" y="3996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8000" y="4392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Implementacao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8000" y="4680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4 fases, 6 meses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8000" y="5076000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8000" y="5076000"/>
            <a:ext cx="144000" cy="108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000" y="522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00" y="5616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ROI Esperado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000" y="5903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Metricas e retorno projetado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56000" y="5076000"/>
            <a:ext cx="5256000" cy="108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56000" y="5076000"/>
            <a:ext cx="144000" cy="108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8000" y="522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51218"/>
                </a:solidFill>
                <a:latin typeface="Calibri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8000" y="5616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Proposta Comercial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8000" y="5903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86B6F"/>
                </a:solidFill>
                <a:latin typeface="Calibri"/>
              </a:rPr>
              <a:t>Investimento e proximos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Diagnostico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Onde a Capitol Consultoria esta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3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342000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342000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602000"/>
            <a:ext cx="9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B5121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2376000"/>
            <a:ext cx="30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Presenca Digital
Minima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999" y="3348000"/>
            <a:ext cx="288000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999" y="3456000"/>
            <a:ext cx="306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87 seguidores no Instagram.
Sem site. Sem blog.
Sem funil de captacao ativo.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4000" y="1404000"/>
            <a:ext cx="342000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4000" y="1404000"/>
            <a:ext cx="342000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4000" y="1602000"/>
            <a:ext cx="9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B51218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4000" y="2376000"/>
            <a:ext cx="30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Dependencia de
Indicacoes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4000" y="3348000"/>
            <a:ext cx="288000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4000" y="3456000"/>
            <a:ext cx="306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100% dos clientes via networking.
Nenhum canal proprio.
Risco alto de sazonalidade.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0" y="1404000"/>
            <a:ext cx="342000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0000" y="1404000"/>
            <a:ext cx="342000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0000" y="1602000"/>
            <a:ext cx="9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B51218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0000" y="2376000"/>
            <a:ext cx="30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Operacao
Manual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0000" y="3348000"/>
            <a:ext cx="288000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0000" y="3456000"/>
            <a:ext cx="306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Monitoramento legislativo
feito a mao. Sem alertas.
Horas perdidas toda semana.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" y="5652000"/>
            <a:ext cx="10896120" cy="54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8000" y="5652000"/>
            <a:ext cx="10896120" cy="7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99" y="5742000"/>
            <a:ext cx="1053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Resultado: a Capitol presta servico de alto valor, mas opera como empresa dos anos 2000.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Valor que esta sendo desperdicado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4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10896120" cy="90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144000" cy="90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999" y="15840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1B23"/>
                </a:solidFill>
                <a:latin typeface="Calibri"/>
              </a:rPr>
              <a:t>R$ 0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8000" y="1710000"/>
            <a:ext cx="729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em receita recorrente de assinaturas digitais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2368800"/>
            <a:ext cx="10896120" cy="90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000" y="2368800"/>
            <a:ext cx="144000" cy="90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999" y="25488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1B23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8000" y="2674800"/>
            <a:ext cx="729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clientes captados via canais digitais no ultimo 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000" y="3333600"/>
            <a:ext cx="10896120" cy="90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000" y="3333600"/>
            <a:ext cx="144000" cy="90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999" y="35136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1B23"/>
                </a:solidFill>
                <a:latin typeface="Calibri"/>
              </a:rPr>
              <a:t>40h/mes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8000" y="3639600"/>
            <a:ext cx="729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gastas em monitoramento manual que pode ser automatizado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" y="4298400"/>
            <a:ext cx="10896120" cy="90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000" y="4298400"/>
            <a:ext cx="144000" cy="90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999" y="44784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1B23"/>
                </a:solidFill>
                <a:latin typeface="Calibri"/>
              </a:rPr>
              <a:t>R$ 8-15k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8000" y="4604400"/>
            <a:ext cx="729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potencial de novos contratos mensais via inbound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000" y="5263200"/>
            <a:ext cx="10896120" cy="90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8000" y="5263200"/>
            <a:ext cx="144000" cy="90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999" y="5443200"/>
            <a:ext cx="30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1B23"/>
                </a:solidFill>
                <a:latin typeface="Calibri"/>
              </a:rPr>
              <a:t>3-5x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8000" y="5569200"/>
            <a:ext cx="729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o alcance possivel com presenca digital estruturada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Solucao LocalRise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Tres pilares integrados para transformar a operacao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5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352404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3524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000" y="1620000"/>
            <a:ext cx="792000" cy="72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1620000"/>
            <a:ext cx="7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2556000"/>
            <a:ext cx="3236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PRESENCA
DIGITAL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600000"/>
            <a:ext cx="3236039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744000"/>
            <a:ext cx="3236039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Site profissional
Funil de captacao
Conteudo automatizado
SEO local e nacional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6040" y="1404000"/>
            <a:ext cx="352404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6040" y="1404000"/>
            <a:ext cx="3524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60040" y="1620000"/>
            <a:ext cx="792000" cy="72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0040" y="1620000"/>
            <a:ext cx="7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040" y="2556000"/>
            <a:ext cx="3236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AUTOMACAO
INTELIGENTE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0040" y="3600000"/>
            <a:ext cx="3236039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0040" y="3744000"/>
            <a:ext cx="3236039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n8n como orquestrador
Alertas em tempo real
Relatorios automaticos
CRM integrado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4080" y="1404000"/>
            <a:ext cx="352404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84080" y="1404000"/>
            <a:ext cx="3524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8080" y="1620000"/>
            <a:ext cx="792000" cy="720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8080" y="1620000"/>
            <a:ext cx="7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80" y="2556000"/>
            <a:ext cx="3236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SAAS DE
INTELIGENCIA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8080" y="3600000"/>
            <a:ext cx="3236039" cy="25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8080" y="3744000"/>
            <a:ext cx="3236039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LexRadar  |  PoliticaIQ
RegRisk  |  OpportunityMap
CrisisMonitor
Receita recorrente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Automacoes Prioritarias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Processos que serao automatizados com n8n + Claude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6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10896120" cy="878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144000" cy="8784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6632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121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5999" y="14688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Monitoramento Legislativo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5999" y="180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31B23"/>
                </a:solidFill>
                <a:latin typeface="Calibri"/>
              </a:rPr>
              <a:t>Diario  |  Alta prioridade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8000" y="1699200"/>
            <a:ext cx="603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Scraping DOU/Camara  -&gt;  Classificacao IA  -&gt;  Alerta WhatsApp/Email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000" y="2361600"/>
            <a:ext cx="10896120" cy="878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000" y="2361600"/>
            <a:ext cx="144000" cy="8784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26208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1218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5999" y="24264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Geracao de Relatorios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5999" y="27576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31B23"/>
                </a:solidFill>
                <a:latin typeface="Calibri"/>
              </a:rPr>
              <a:t>Semanal/Mensal  |  Alto impacto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8000" y="2656800"/>
            <a:ext cx="603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Coleta de dados  -&gt;  Analise Claude API  -&gt;  Docx/PDF formatado  -&gt;  Envio automatico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" y="3319200"/>
            <a:ext cx="10896120" cy="878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000" y="3319200"/>
            <a:ext cx="144000" cy="8784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35784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1218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5999" y="3384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Captura de Leads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5999" y="37152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31B23"/>
                </a:solidFill>
                <a:latin typeface="Calibri"/>
              </a:rPr>
              <a:t>Continuo  |  Estrategico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8000" y="3614400"/>
            <a:ext cx="603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Formulario site  -&gt;  CRM  -&gt;  Email sequence  -&gt;  Qualificacao automatica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" y="4276800"/>
            <a:ext cx="10896120" cy="878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8000" y="4276800"/>
            <a:ext cx="144000" cy="8784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4536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1218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5999" y="43416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Agendamento de Reunioes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5999" y="46728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31B23"/>
                </a:solidFill>
                <a:latin typeface="Calibri"/>
              </a:rPr>
              <a:t>Sob demanda  |  Operacional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8000" y="4572000"/>
            <a:ext cx="603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Calendly integrado  -&gt;  Confirmacao automatica  -&gt;  Briefing pre-reuniao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000" y="5234400"/>
            <a:ext cx="10896120" cy="878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8000" y="5234400"/>
            <a:ext cx="144000" cy="8784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000" y="54936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1218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5999" y="52992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Gestao de Clientes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5999" y="56304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31B23"/>
                </a:solidFill>
                <a:latin typeface="Calibri"/>
              </a:rPr>
              <a:t>Continuo  |  Recorrente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8000" y="5529600"/>
            <a:ext cx="603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Painel por cliente  -&gt;  Alertas customizados  -&gt;  NPS automatizado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Transformacao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O antes e o depois da implantacao LocalRise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7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5304060" cy="503999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1512000"/>
            <a:ext cx="494406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HOJE  —  Capitol sem LocalRise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060" y="1404000"/>
            <a:ext cx="5304060" cy="503999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0060" y="1512000"/>
            <a:ext cx="494406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APOS  —  Com LocalRise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1980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000" y="1980000"/>
            <a:ext cx="125999" cy="652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000" y="2180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Monitoramento manual, 8-10h/semana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0060" y="1980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060" y="1980000"/>
            <a:ext cx="125999" cy="65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060" y="2180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Monitoramento automatico 24/7, alertas em minutos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" y="2676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8000" y="2676000"/>
            <a:ext cx="125999" cy="652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00" y="2876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Relatorios criados do zero a cada entrega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0060" y="2676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0060" y="2676000"/>
            <a:ext cx="125999" cy="65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060" y="2876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Relatorios gerados automaticamente com 1 clique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000" y="3372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8000" y="3372000"/>
            <a:ext cx="125999" cy="652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000" y="3572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Sem presenca digital, so indicacoes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0060" y="3372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0060" y="3372000"/>
            <a:ext cx="125999" cy="65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8060" y="3572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Site, funil, SEO e captacao ativa de leads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8000" y="4068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8000" y="4068000"/>
            <a:ext cx="125999" cy="652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000" y="4268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Sem receita recorrente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0060" y="4068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40060" y="4068000"/>
            <a:ext cx="125999" cy="65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8060" y="4268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SaaS com assinaturas mensais previsiveis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000" y="4764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8000" y="4764000"/>
            <a:ext cx="125999" cy="652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000" y="4964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Clientes sem painel de acompanhamento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0060" y="4764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40060" y="4764000"/>
            <a:ext cx="125999" cy="65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8060" y="4964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Dashboard personalizado por cliente em tempo real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8000" y="5460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8000" y="5460000"/>
            <a:ext cx="125999" cy="6528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000" y="5660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Sem diferencial tecnologico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0060" y="5460000"/>
            <a:ext cx="5304060" cy="65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40060" y="5460000"/>
            <a:ext cx="125999" cy="65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38060" y="5660400"/>
            <a:ext cx="4980060" cy="6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Pioneiros em IA regulatoria no mercado brasileiro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Portfolio de Produtos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Cinco linhas de receita recorrente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8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999" y="14688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1B23"/>
                </a:solidFill>
                <a:latin typeface="Calibri"/>
              </a:rPr>
              <a:t>LexRadar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999" y="1800000"/>
            <a:ext cx="756000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Monitoramento legislativo em tempo real. Alertas configuráveis por tema, orgao e palavra-chave.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4120" y="1684800"/>
            <a:ext cx="2520000" cy="39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0120" y="1720800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4C6C8"/>
                </a:solidFill>
                <a:latin typeface="Calibri"/>
              </a:rPr>
              <a:t>Assinatura mensal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000" y="23688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000" y="23688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999" y="24336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1B23"/>
                </a:solidFill>
                <a:latin typeface="Calibri"/>
              </a:rPr>
              <a:t>PoliticaIQ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999" y="2764800"/>
            <a:ext cx="756000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Analise de posicionamento de parlamentares com IA. Mapas de influencia e historico de votacoes.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4120" y="2649600"/>
            <a:ext cx="2520000" cy="39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0120" y="2685600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4C6C8"/>
                </a:solidFill>
                <a:latin typeface="Calibri"/>
              </a:rPr>
              <a:t>Assinatura + relatorio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" y="33336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000" y="33336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999" y="33984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1B23"/>
                </a:solidFill>
                <a:latin typeface="Calibri"/>
              </a:rPr>
              <a:t>RegRisk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999" y="3729600"/>
            <a:ext cx="756000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Score de risco regulatorio por setor. Identifica ameacas antes que se tornem problemas.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44120" y="3614400"/>
            <a:ext cx="2520000" cy="39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0120" y="3650400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4C6C8"/>
                </a:solidFill>
                <a:latin typeface="Calibri"/>
              </a:rPr>
              <a:t>Consultivo + SaaS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" y="42984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8000" y="42984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999" y="43632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1B23"/>
                </a:solidFill>
                <a:latin typeface="Calibri"/>
              </a:rPr>
              <a:t>OpportunityMap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999" y="4694400"/>
            <a:ext cx="756000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Radar de licitacoes, PPPs e programas publicos alinhados ao perfil de cada cliente.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44120" y="4579200"/>
            <a:ext cx="2520000" cy="39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0120" y="4615200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4C6C8"/>
                </a:solidFill>
                <a:latin typeface="Calibri"/>
              </a:rPr>
              <a:t>Comissao + assinatura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000" y="52632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8000" y="52632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999" y="5328000"/>
            <a:ext cx="30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1B23"/>
                </a:solidFill>
                <a:latin typeface="Calibri"/>
              </a:rPr>
              <a:t>CrisisMonitor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999" y="5659200"/>
            <a:ext cx="756000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6C8"/>
                </a:solidFill>
                <a:latin typeface="Calibri"/>
              </a:rPr>
              <a:t>Monitoramento de midia e redes sociais para detectar crises regulatorias emergentes.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44120" y="5544000"/>
            <a:ext cx="2520000" cy="39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80120" y="5580000"/>
            <a:ext cx="24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4C6C8"/>
                </a:solidFill>
                <a:latin typeface="Calibri"/>
              </a:rPr>
              <a:t>Retainer mensal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Pipeline de Inteligencia Regulatoria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Seis agentes em serie — da coleta ao cliente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9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1666020" cy="446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1666020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584000"/>
            <a:ext cx="145002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5121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160000"/>
            <a:ext cx="152201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COLLECTOR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2771999"/>
            <a:ext cx="137802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2880000"/>
            <a:ext cx="1522019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C6C8"/>
                </a:solidFill>
                <a:latin typeface="Calibri"/>
              </a:rPr>
              <a:t>Scraping DOU,
Camara, Senado,
TCU e portais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2020" y="3420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31B23"/>
                </a:solidFill>
                <a:latin typeface="Calibri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94020" y="1404000"/>
            <a:ext cx="1666020" cy="446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94020" y="1404000"/>
            <a:ext cx="1666020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2020" y="1584000"/>
            <a:ext cx="145002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51218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6020" y="2160000"/>
            <a:ext cx="152201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38020" y="2771999"/>
            <a:ext cx="137802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6020" y="2880000"/>
            <a:ext cx="1522019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C6C8"/>
                </a:solidFill>
                <a:latin typeface="Calibri"/>
              </a:rPr>
              <a:t>Classifica por
tema, urgencia
e relevancia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040" y="3420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31B23"/>
                </a:solidFill>
                <a:latin typeface="Calibr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0040" y="1404000"/>
            <a:ext cx="1666020" cy="446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0040" y="1404000"/>
            <a:ext cx="1666020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8040" y="1584000"/>
            <a:ext cx="145002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51218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2040" y="2160000"/>
            <a:ext cx="152201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4040" y="2771999"/>
            <a:ext cx="137802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2040" y="2880000"/>
            <a:ext cx="1522019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C6C8"/>
                </a:solidFill>
                <a:latin typeface="Calibri"/>
              </a:rPr>
              <a:t>Claude API
gera analise
tecnica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4060" y="3420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31B23"/>
                </a:solidFill>
                <a:latin typeface="Calibri"/>
              </a:rP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6059" y="1404000"/>
            <a:ext cx="1666020" cy="446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6059" y="1404000"/>
            <a:ext cx="1666020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4060" y="1584000"/>
            <a:ext cx="145002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51218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8059" y="2160000"/>
            <a:ext cx="152201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RISK SCORER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0059" y="2771999"/>
            <a:ext cx="137802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8059" y="2880000"/>
            <a:ext cx="1522019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C6C8"/>
                </a:solidFill>
                <a:latin typeface="Calibri"/>
              </a:rPr>
              <a:t>Score 0-100
por setor e
perfil do cliente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70079" y="3420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31B23"/>
                </a:solidFill>
                <a:latin typeface="Calibri"/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32080" y="1404000"/>
            <a:ext cx="1666020" cy="446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32080" y="1404000"/>
            <a:ext cx="1666020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40080" y="1584000"/>
            <a:ext cx="145002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51218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4080" y="2160000"/>
            <a:ext cx="152201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REPORTER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76080" y="2771999"/>
            <a:ext cx="137802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4080" y="2880000"/>
            <a:ext cx="1522019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C6C8"/>
                </a:solidFill>
                <a:latin typeface="Calibri"/>
              </a:rPr>
              <a:t>Relatorio
Word/PDF
formatado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6100" y="3420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31B23"/>
                </a:solidFill>
                <a:latin typeface="Calibri"/>
              </a:rPr>
              <a:t>&gt;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8100" y="1404000"/>
            <a:ext cx="1666020" cy="446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8100" y="1404000"/>
            <a:ext cx="1666020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86100" y="1584000"/>
            <a:ext cx="145002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51218"/>
                </a:solidFill>
                <a:latin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50100" y="2160000"/>
            <a:ext cx="152201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DISPATCHER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22100" y="2771999"/>
            <a:ext cx="137802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50100" y="2880000"/>
            <a:ext cx="1522019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C6C8"/>
                </a:solidFill>
                <a:latin typeface="Calibri"/>
              </a:rPr>
              <a:t>Entrega:
Email, WhatsApp
ou dashboard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8000" y="5958000"/>
            <a:ext cx="10896120" cy="34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999" y="5994000"/>
            <a:ext cx="105361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C6C8"/>
                </a:solidFill>
                <a:latin typeface="Calibri"/>
              </a:rPr>
              <a:t>Orquestrador: n8n  |  LLM: Claude API (Anthropic)  |  Entrega: Multi-canal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Arquitetura Tecnologica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Stack moderno, escalavel e de baixo custo operacional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10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10896120" cy="89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144000" cy="89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999" y="15983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COLETA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8000" y="1706399"/>
            <a:ext cx="765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C6C8"/>
                </a:solidFill>
                <a:latin typeface="Calibri"/>
              </a:rPr>
              <a:t>Scrapers Python  |  RSS feeds  |  APIs publicas (Camara, Senado, DOU)  |  Web crawlers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2368800"/>
            <a:ext cx="10896120" cy="892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000" y="2368800"/>
            <a:ext cx="144000" cy="89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999" y="25632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ORQUESTRACAO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8000" y="2671200"/>
            <a:ext cx="765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C6C8"/>
                </a:solidFill>
                <a:latin typeface="Calibri"/>
              </a:rPr>
              <a:t>n8n self-hosted  —  Workflows visuais, agendamentos, integracoes e logica de negocio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000" y="3333600"/>
            <a:ext cx="10896120" cy="89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000" y="3333600"/>
            <a:ext cx="144000" cy="89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999" y="35280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INTELIGENCIA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8000" y="3636000"/>
            <a:ext cx="765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C6C8"/>
                </a:solidFill>
                <a:latin typeface="Calibri"/>
              </a:rPr>
              <a:t>Claude API (Anthropic)  —  Analise, classificacao, scoring e geracao de relatorios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" y="4298400"/>
            <a:ext cx="10896120" cy="892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000" y="4298400"/>
            <a:ext cx="144000" cy="89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999" y="44928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DADOS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8000" y="4600800"/>
            <a:ext cx="765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C6C8"/>
                </a:solidFill>
                <a:latin typeface="Calibri"/>
              </a:rPr>
              <a:t>Supabase (PostgreSQL)  —  Armazenamento, historico, perfis de clientes e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000" y="5263200"/>
            <a:ext cx="10896120" cy="892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8000" y="5263200"/>
            <a:ext cx="144000" cy="8928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999" y="54576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ENTREGA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8000" y="5565600"/>
            <a:ext cx="7656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C6C8"/>
                </a:solidFill>
                <a:latin typeface="Calibri"/>
              </a:rPr>
              <a:t>Email (SMTP)  |  WhatsApp (Evolution API)  |  Dashboard Next.js  |  PDF/Docx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Plano de Implementacao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Quatro fases progressivas — do diagnostico ao produto completo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11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261603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261603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584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FASE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12030" y="1565999"/>
            <a:ext cx="1044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030" y="1602000"/>
            <a:ext cx="1007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C6C8"/>
                </a:solidFill>
                <a:latin typeface="Calibri"/>
              </a:rPr>
              <a:t>30 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2015999"/>
            <a:ext cx="232803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Fundacao Digital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2520000"/>
            <a:ext cx="232803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610000"/>
            <a:ext cx="232803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Site profissional
Setup Google Analytics
Perfis redes sociais
Identidade visual digital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4030" y="3816000"/>
            <a:ext cx="144000" cy="21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8030" y="1404000"/>
            <a:ext cx="261603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08030" y="1404000"/>
            <a:ext cx="261603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2030" y="1584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FASE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2060" y="1565999"/>
            <a:ext cx="1044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08060" y="1602000"/>
            <a:ext cx="1007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C6C8"/>
                </a:solidFill>
                <a:latin typeface="Calibri"/>
              </a:rPr>
              <a:t>60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2030" y="2015999"/>
            <a:ext cx="232803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Automacao 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2030" y="2520000"/>
            <a:ext cx="232803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2030" y="2610000"/>
            <a:ext cx="232803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Monitoramento automatizado
Alertas por cliente
Relatorios automaticos
CRM integrado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24060" y="3816000"/>
            <a:ext cx="144000" cy="21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8060" y="1404000"/>
            <a:ext cx="261603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8060" y="1404000"/>
            <a:ext cx="261603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2060" y="1584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FASE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2090" y="1565999"/>
            <a:ext cx="1044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8089" y="1602000"/>
            <a:ext cx="1007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C6C8"/>
                </a:solidFill>
                <a:latin typeface="Calibri"/>
              </a:rPr>
              <a:t>90 dias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2060" y="2015999"/>
            <a:ext cx="232803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SaaS MVP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2060" y="2520000"/>
            <a:ext cx="232803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2060" y="2610000"/>
            <a:ext cx="232803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LexRadar em producao
Dashboard por cliente
Primeiros assinantes
Documentacao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4090" y="3816000"/>
            <a:ext cx="144000" cy="21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28090" y="1404000"/>
            <a:ext cx="261603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28090" y="1404000"/>
            <a:ext cx="261603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2090" y="1584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1B23"/>
                </a:solidFill>
                <a:latin typeface="Calibri"/>
              </a:rPr>
              <a:t>FASE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92120" y="1565999"/>
            <a:ext cx="1044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8120" y="1602000"/>
            <a:ext cx="1007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C6C8"/>
                </a:solidFill>
                <a:latin typeface="Calibri"/>
              </a:rPr>
              <a:t>180 dias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2090" y="2015999"/>
            <a:ext cx="232803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Escala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72090" y="2520000"/>
            <a:ext cx="2328030" cy="144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2090" y="2610000"/>
            <a:ext cx="232803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Portfolio completo (5 produtos)
Time de CS dedicado
Parcerias estrategicas
MRR consolidado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ROI e Metricas Esperadas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Projecoes conservadoras para os primeiros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12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3536040" cy="234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3536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620000"/>
            <a:ext cx="3248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1B23"/>
                </a:solidFill>
                <a:latin typeface="Calibri"/>
              </a:rPr>
              <a:t>40h/mes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7999" y="2628000"/>
            <a:ext cx="2816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000" y="2700000"/>
            <a:ext cx="3320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4C6C8"/>
                </a:solidFill>
                <a:latin typeface="Calibri"/>
              </a:rPr>
              <a:t>Economizadas em
monitoramento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00" y="3131999"/>
            <a:ext cx="3320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86B6F"/>
                </a:solidFill>
                <a:latin typeface="Calibri"/>
              </a:rPr>
              <a:t>liberadas para atividade estrategica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040" y="1404000"/>
            <a:ext cx="3536040" cy="234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8040" y="1404000"/>
            <a:ext cx="3536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2040" y="1620000"/>
            <a:ext cx="3248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1B23"/>
                </a:solidFill>
                <a:latin typeface="Calibri"/>
              </a:rPr>
              <a:t>3-5x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8040" y="2628000"/>
            <a:ext cx="2816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6040" y="2700000"/>
            <a:ext cx="3320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4C6C8"/>
                </a:solidFill>
                <a:latin typeface="Calibri"/>
              </a:rPr>
              <a:t>Ampliacao do alcance
de prospeccao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040" y="3131999"/>
            <a:ext cx="3320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86B6F"/>
                </a:solidFill>
                <a:latin typeface="Calibri"/>
              </a:rPr>
              <a:t>com presenca digital estruturada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8080" y="1404000"/>
            <a:ext cx="3536040" cy="234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8080" y="1404000"/>
            <a:ext cx="3536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2080" y="1620000"/>
            <a:ext cx="3248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1B23"/>
                </a:solidFill>
                <a:latin typeface="Calibri"/>
              </a:rPr>
              <a:t>R$ 8-15k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8080" y="2628000"/>
            <a:ext cx="2816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6080" y="2700000"/>
            <a:ext cx="3320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4C6C8"/>
                </a:solidFill>
                <a:latin typeface="Calibri"/>
              </a:rPr>
              <a:t>Novos contratos mensais
via inbound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6080" y="3131999"/>
            <a:ext cx="3320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86B6F"/>
                </a:solidFill>
                <a:latin typeface="Calibri"/>
              </a:rPr>
              <a:t>captados por canal digital proprio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" y="3888000"/>
            <a:ext cx="3536040" cy="234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8000" y="3888000"/>
            <a:ext cx="3536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000" y="4104000"/>
            <a:ext cx="3248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1B23"/>
                </a:solidFill>
                <a:latin typeface="Calibri"/>
              </a:rPr>
              <a:t>R$ 5-20k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7999" y="5112000"/>
            <a:ext cx="2816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5184000"/>
            <a:ext cx="3320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4C6C8"/>
                </a:solidFill>
                <a:latin typeface="Calibri"/>
              </a:rPr>
              <a:t>MRR potencial
de assinaturas 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000" y="5616000"/>
            <a:ext cx="3320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86B6F"/>
                </a:solidFill>
                <a:latin typeface="Calibri"/>
              </a:rPr>
              <a:t>no primeiro ano de operacao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8040" y="3888000"/>
            <a:ext cx="3536040" cy="234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8040" y="3888000"/>
            <a:ext cx="3536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2040" y="4104000"/>
            <a:ext cx="3248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1B23"/>
                </a:solidFill>
                <a:latin typeface="Calibri"/>
              </a:rPr>
              <a:t>&lt; 90 dias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8040" y="5112000"/>
            <a:ext cx="2816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6040" y="5184000"/>
            <a:ext cx="3320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4C6C8"/>
                </a:solidFill>
                <a:latin typeface="Calibri"/>
              </a:rPr>
              <a:t>Payback estimado
do investimento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040" y="5616000"/>
            <a:ext cx="3320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86B6F"/>
                </a:solidFill>
                <a:latin typeface="Calibri"/>
              </a:rPr>
              <a:t>ROI positivo no curto prazo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8080" y="3888000"/>
            <a:ext cx="3536040" cy="2340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8080" y="3888000"/>
            <a:ext cx="3536040" cy="90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52080" y="4104000"/>
            <a:ext cx="3248039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1B23"/>
                </a:solidFill>
                <a:latin typeface="Calibri"/>
              </a:rPr>
              <a:t>10-30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8080" y="5112000"/>
            <a:ext cx="2816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6080" y="5184000"/>
            <a:ext cx="332004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4C6C8"/>
                </a:solidFill>
                <a:latin typeface="Calibri"/>
              </a:rPr>
              <a:t>Clientes assinantes
no primeiro ano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6080" y="5616000"/>
            <a:ext cx="3320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86B6F"/>
                </a:solidFill>
                <a:latin typeface="Calibri"/>
              </a:rPr>
              <a:t>base inicial de receita recorrente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Tres modalidades de engajamento com a LocalRise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13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348804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3488040" cy="14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692000"/>
            <a:ext cx="31280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2232000"/>
            <a:ext cx="312804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86B6F"/>
                </a:solidFill>
                <a:latin typeface="Calibri"/>
              </a:rPr>
              <a:t>Implantacao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2592000"/>
            <a:ext cx="2984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999" y="2700000"/>
            <a:ext cx="312804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Site + identidade digital
Setup automacao basica
Primeiro relatorio automatico
3 meses de suporte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220000"/>
            <a:ext cx="3200039" cy="86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56000"/>
            <a:ext cx="320003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 partir de
R$ 3.500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2040" y="1404000"/>
            <a:ext cx="3488040" cy="4824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040" y="1404000"/>
            <a:ext cx="3488040" cy="14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12040" y="1620000"/>
            <a:ext cx="2768040" cy="32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2040" y="1638000"/>
            <a:ext cx="276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MAIS ESCOLHIDO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2040" y="1980000"/>
            <a:ext cx="31280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2040" y="2520000"/>
            <a:ext cx="312804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CCC"/>
                </a:solidFill>
                <a:latin typeface="Calibri"/>
              </a:rPr>
              <a:t>Recomendado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4040" y="2880000"/>
            <a:ext cx="298404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2040" y="2988000"/>
            <a:ext cx="312804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Tudo do Starter
+ LexRadar MVP
+ Dashboard de clientes
+ Suporte dedicado 6 meses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96040" y="5220000"/>
            <a:ext cx="3200039" cy="86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6040" y="5256000"/>
            <a:ext cx="320003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 partir de
R$ 6.800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6080" y="1404000"/>
            <a:ext cx="3488040" cy="482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6080" y="1404000"/>
            <a:ext cx="3488040" cy="14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6080" y="1692000"/>
            <a:ext cx="312804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6080" y="2232000"/>
            <a:ext cx="312804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86B6F"/>
                </a:solidFill>
                <a:latin typeface="Calibri"/>
              </a:rPr>
              <a:t>Parceria Plena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08080" y="2592000"/>
            <a:ext cx="298404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6080" y="2700000"/>
            <a:ext cx="312804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Tudo do Growth
+ Portfolio completo
+ White-label disponivel
+ Revenue share SaaS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00079" y="5220000"/>
            <a:ext cx="3200039" cy="864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0079" y="5256000"/>
            <a:ext cx="320003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Sob consulta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80000"/>
            <a:ext cx="1008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Por que LocalRise Advisory?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756000"/>
            <a:ext cx="1089612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6C8"/>
                </a:solidFill>
                <a:latin typeface="Calibri"/>
              </a:rPr>
              <a:t>O parceiro certo para esta transformacao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42000"/>
            <a:ext cx="10896120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282000"/>
            <a:ext cx="12192119" cy="18000"/>
          </a:xfrm>
          <a:prstGeom prst="rect">
            <a:avLst/>
          </a:prstGeom>
          <a:solidFill>
            <a:srgbClr val="3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637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86B6F"/>
                </a:solidFill>
                <a:latin typeface="Calibri"/>
              </a:rPr>
              <a:t>Confidencial  |  LocalRise Advisory x Capitol Consultoria  | 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059" y="637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86B6F"/>
                </a:solidFill>
                <a:latin typeface="Calibri"/>
              </a:rPr>
              <a:t>14</a:t>
            </a:r>
          </a:p>
        </p:txBody>
      </p:sp>
      <p:pic>
        <p:nvPicPr>
          <p:cNvPr id="10" name="Picture 9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120" y="6346800"/>
            <a:ext cx="1368000" cy="182414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8000" y="14040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" y="14040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000" y="1648800"/>
            <a:ext cx="576000" cy="396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000" y="1648800"/>
            <a:ext cx="5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" y="1475999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1B23"/>
                </a:solidFill>
                <a:latin typeface="Calibri"/>
              </a:rPr>
              <a:t>Especialistas em Gov-Tech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0" y="1800000"/>
            <a:ext cx="974412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Conhecimento profundo do mercado de relacoes governamentais, compliance e inteligencia regulatoria brasileira.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000" y="23688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000" y="23688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000" y="2613600"/>
            <a:ext cx="576000" cy="396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000" y="2613600"/>
            <a:ext cx="5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0000" y="24408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1B23"/>
                </a:solidFill>
                <a:latin typeface="Calibri"/>
              </a:rPr>
              <a:t>Stack Proprietaria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000" y="2764800"/>
            <a:ext cx="974412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Automacoes desenvolvidas internamente com n8n + Claude API. Sem dependencia de ferramentas caras de terceiros.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" y="33336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000" y="33336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000" y="3578400"/>
            <a:ext cx="576000" cy="396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000" y="3578400"/>
            <a:ext cx="5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0000" y="3405599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1B23"/>
                </a:solidFill>
                <a:latin typeface="Calibri"/>
              </a:rPr>
              <a:t>Entrega Orientada a 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0000" y="3729600"/>
            <a:ext cx="974412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Nao vendemos horas. Entregamos outcomes: leads, relatorios, alertas e receita recorrente gerados e mensurados.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" y="42984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8000" y="42984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000" y="4543200"/>
            <a:ext cx="576000" cy="396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000" y="4543200"/>
            <a:ext cx="5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0000" y="43704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1B23"/>
                </a:solidFill>
                <a:latin typeface="Calibri"/>
              </a:rPr>
              <a:t>Modelo de Parceria Real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0000" y="4694400"/>
            <a:ext cx="974412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Alinhamento via revenue share em produtos SaaS. Nosso sucesso depende diretamente do seu sucesso.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000" y="5263200"/>
            <a:ext cx="10896120" cy="885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8000" y="5263200"/>
            <a:ext cx="144000" cy="8856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2000" y="5508000"/>
            <a:ext cx="576000" cy="396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000" y="5508000"/>
            <a:ext cx="5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0000" y="53352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1B23"/>
                </a:solidFill>
                <a:latin typeface="Calibri"/>
              </a:rPr>
              <a:t>Velocidade de Implantacao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0000" y="5659200"/>
            <a:ext cx="9744120" cy="4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C6C8"/>
                </a:solidFill>
                <a:latin typeface="Calibri"/>
              </a:rPr>
              <a:t>MVP rodando em 30-60 dias. Sem projetos longos de TI. Sem burocracia. Resultados visiveis rapidamente.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5666" y="0"/>
            <a:ext cx="5486454" cy="6858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51666" y="0"/>
            <a:ext cx="108000" cy="6858000"/>
          </a:xfrm>
          <a:prstGeom prst="rect">
            <a:avLst/>
          </a:prstGeom>
          <a:solidFill>
            <a:srgbClr val="B5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648000"/>
            <a:ext cx="5985666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Proximos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584000"/>
            <a:ext cx="5805666" cy="432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5805666" cy="756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000" y="1800000"/>
            <a:ext cx="144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7999" y="1908000"/>
            <a:ext cx="5481666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1.  Validar escopo e prioridades (esta reuniao)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664000"/>
            <a:ext cx="5805666" cy="756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00" y="2664000"/>
            <a:ext cx="144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999" y="2771999"/>
            <a:ext cx="5481666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2.  Proposta formal com cronograma detalhado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3528000"/>
            <a:ext cx="5805666" cy="756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3528000"/>
            <a:ext cx="144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3636000"/>
            <a:ext cx="5481666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3.  Kickoff em ate 15 dias apos assinatura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4392000"/>
            <a:ext cx="5805666" cy="756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000" y="4392000"/>
            <a:ext cx="144000" cy="756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999" y="4500000"/>
            <a:ext cx="5481666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C6C8"/>
                </a:solidFill>
                <a:latin typeface="Calibri"/>
              </a:rPr>
              <a:t>4.  Primeiro entregavel em ate 30 dias</a:t>
            </a:r>
          </a:p>
        </p:txBody>
      </p:sp>
      <p:pic>
        <p:nvPicPr>
          <p:cNvPr id="19" name="Picture 18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5688000"/>
            <a:ext cx="1440000" cy="19201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000" y="54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6B6F"/>
                </a:solidFill>
                <a:latin typeface="Calibri"/>
              </a:rPr>
              <a:t>08 de abril de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3666" y="720000"/>
            <a:ext cx="4910454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Vamos
construir
juntos?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3666" y="3060000"/>
            <a:ext cx="4730454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3666" y="3240000"/>
            <a:ext cx="4910454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LocalRise Advisory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3666" y="3671999"/>
            <a:ext cx="4910454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Nicolas Slater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3666" y="3960000"/>
            <a:ext cx="4910454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Diretoria Comercial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3666" y="4392000"/>
            <a:ext cx="4730454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3666" y="4536000"/>
            <a:ext cx="4910454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contato@localrise.com.br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3666" y="4824000"/>
            <a:ext cx="4910454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localrise.com.br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