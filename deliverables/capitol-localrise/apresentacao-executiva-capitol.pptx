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211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798800" cy="162000"/>
          </a:xfrm>
          <a:prstGeom prst="rect">
            <a:avLst/>
          </a:prstGeom>
          <a:solidFill>
            <a:srgbClr val="E31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 Local Rise Princip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88000" y="234000"/>
            <a:ext cx="648000" cy="86406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24000" y="288000"/>
            <a:ext cx="4140000" cy="46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2400">
                <a:solidFill>
                  <a:srgbClr val="FFFFFF"/>
                </a:solidFill>
                <a:latin typeface="Calibri"/>
              </a:rPr>
              <a:t>Capitol Consultoria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2000" y="720000"/>
            <a:ext cx="4031999" cy="28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E8EAED"/>
                </a:solidFill>
                <a:latin typeface="Calibri"/>
              </a:defRPr>
            </a:pPr>
            <a:r>
              <a:t>Diagnostico estrategico e proposta de entrada LocalRise | abril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42000" y="1440000"/>
            <a:ext cx="3168000" cy="9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Calibri"/>
              </a:defRPr>
            </a:pPr>
            <a:r>
              <a:t>Como transformar senioridade institucional em presenca digital, autoridade escalavel e aquisicao preparada para crescer.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798800" cy="162000"/>
          </a:xfrm>
          <a:prstGeom prst="rect">
            <a:avLst/>
          </a:prstGeom>
          <a:solidFill>
            <a:srgbClr val="E31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 Local Rise Princip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88000" y="234000"/>
            <a:ext cx="648000" cy="86406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24000" y="288000"/>
            <a:ext cx="4140000" cy="46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2400">
                <a:solidFill>
                  <a:srgbClr val="FFFFFF"/>
                </a:solidFill>
                <a:latin typeface="Calibri"/>
              </a:rPr>
              <a:t>O que encontramos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2000" y="1044000"/>
            <a:ext cx="4031999" cy="14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FFFFFF"/>
                </a:solidFill>
                <a:latin typeface="Calibri"/>
              </a:defRPr>
            </a:pPr>
            <a:r>
              <a:t>Instagram existe, mas ainda nao opera como ativo de autoridade e aquisicao.</a:t>
            </a:r>
          </a:p>
          <a:p>
            <a:pPr>
              <a:spcAft>
                <a:spcPts val="800"/>
              </a:spcAft>
              <a:defRPr sz="1700">
                <a:solidFill>
                  <a:srgbClr val="FFFFFF"/>
                </a:solidFill>
                <a:latin typeface="Calibri"/>
              </a:defRPr>
            </a:pPr>
            <a:r>
              <a:t>Nao encontramos site oficial claro e funcional na verificacao publica.</a:t>
            </a:r>
          </a:p>
          <a:p>
            <a:pPr>
              <a:spcAft>
                <a:spcPts val="800"/>
              </a:spcAft>
              <a:defRPr sz="1700">
                <a:solidFill>
                  <a:srgbClr val="FFFFFF"/>
                </a:solidFill>
                <a:latin typeface="Calibri"/>
              </a:defRPr>
            </a:pPr>
            <a:r>
              <a:t>A marca parece mais forte no offline do que no digital.</a:t>
            </a:r>
          </a:p>
          <a:p>
            <a:pPr>
              <a:spcAft>
                <a:spcPts val="800"/>
              </a:spcAft>
              <a:defRPr sz="1700">
                <a:solidFill>
                  <a:srgbClr val="FFFFFF"/>
                </a:solidFill>
                <a:latin typeface="Calibri"/>
              </a:defRPr>
            </a:pPr>
            <a:r>
              <a:t>Meta Ads agora teria risco alto de desperdiccio de verba.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798800" cy="162000"/>
          </a:xfrm>
          <a:prstGeom prst="rect">
            <a:avLst/>
          </a:prstGeom>
          <a:solidFill>
            <a:srgbClr val="E31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 Local Rise Princip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88000" y="234000"/>
            <a:ext cx="648000" cy="86406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24000" y="288000"/>
            <a:ext cx="4140000" cy="46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2400">
                <a:solidFill>
                  <a:srgbClr val="FFFFFF"/>
                </a:solidFill>
                <a:latin typeface="Calibri"/>
              </a:rPr>
              <a:t>Riscos de continuar como esta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2000" y="1044000"/>
            <a:ext cx="4031999" cy="14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FFFFFF"/>
                </a:solidFill>
                <a:latin typeface="Calibri"/>
              </a:defRPr>
            </a:pPr>
            <a:r>
              <a:t>Baixa validacao institucional para novos decisores.</a:t>
            </a:r>
          </a:p>
          <a:p>
            <a:pPr>
              <a:spcAft>
                <a:spcPts val="800"/>
              </a:spcAft>
              <a:defRPr sz="1700">
                <a:solidFill>
                  <a:srgbClr val="FFFFFF"/>
                </a:solidFill>
                <a:latin typeface="Calibri"/>
              </a:defRPr>
            </a:pPr>
            <a:r>
              <a:t>Pouca capacidade de captar, medir e qualificar leads.</a:t>
            </a:r>
          </a:p>
          <a:p>
            <a:pPr>
              <a:spcAft>
                <a:spcPts val="800"/>
              </a:spcAft>
              <a:defRPr sz="1700">
                <a:solidFill>
                  <a:srgbClr val="FFFFFF"/>
                </a:solidFill>
                <a:latin typeface="Calibri"/>
              </a:defRPr>
            </a:pPr>
            <a:r>
              <a:t>Dependencia excessiva de reputacao offline e networking.</a:t>
            </a:r>
          </a:p>
          <a:p>
            <a:pPr>
              <a:spcAft>
                <a:spcPts val="800"/>
              </a:spcAft>
              <a:defRPr sz="1700">
                <a:solidFill>
                  <a:srgbClr val="FFFFFF"/>
                </a:solidFill>
                <a:latin typeface="Calibri"/>
              </a:defRPr>
            </a:pPr>
            <a:r>
              <a:t>Trafego pago sem base de conversao tende a performar mal.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798800" cy="162000"/>
          </a:xfrm>
          <a:prstGeom prst="rect">
            <a:avLst/>
          </a:prstGeom>
          <a:solidFill>
            <a:srgbClr val="E31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 Local Rise Princip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88000" y="234000"/>
            <a:ext cx="648000" cy="86406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24000" y="288000"/>
            <a:ext cx="4140000" cy="46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2400">
                <a:solidFill>
                  <a:srgbClr val="FFFFFF"/>
                </a:solidFill>
                <a:latin typeface="Calibri"/>
              </a:rPr>
              <a:t>A ordem ideal de entrada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2000" y="1044000"/>
            <a:ext cx="4031999" cy="14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FFFFFF"/>
                </a:solidFill>
                <a:latin typeface="Calibri"/>
              </a:defRPr>
            </a:pPr>
            <a:r>
              <a:t>1. Site institucional-comercial</a:t>
            </a:r>
          </a:p>
          <a:p>
            <a:pPr>
              <a:spcAft>
                <a:spcPts val="800"/>
              </a:spcAft>
              <a:defRPr sz="1700">
                <a:solidFill>
                  <a:srgbClr val="FFFFFF"/>
                </a:solidFill>
                <a:latin typeface="Calibri"/>
              </a:defRPr>
            </a:pPr>
            <a:r>
              <a:t>2. Instagram de autoridade</a:t>
            </a:r>
          </a:p>
          <a:p>
            <a:pPr>
              <a:spcAft>
                <a:spcPts val="800"/>
              </a:spcAft>
              <a:defRPr sz="1700">
                <a:solidFill>
                  <a:srgbClr val="FFFFFF"/>
                </a:solidFill>
                <a:latin typeface="Calibri"/>
              </a:defRPr>
            </a:pPr>
            <a:r>
              <a:t>3. Meta Ads como acelerador, nao como ponto de partida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798800" cy="162000"/>
          </a:xfrm>
          <a:prstGeom prst="rect">
            <a:avLst/>
          </a:prstGeom>
          <a:solidFill>
            <a:srgbClr val="E31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 Local Rise Princip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88000" y="234000"/>
            <a:ext cx="648000" cy="86406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24000" y="288000"/>
            <a:ext cx="4140000" cy="46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2400">
                <a:solidFill>
                  <a:srgbClr val="FFFFFF"/>
                </a:solidFill>
                <a:latin typeface="Calibri"/>
              </a:rPr>
              <a:t>Frente 1 | Site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2000" y="1044000"/>
            <a:ext cx="4031999" cy="14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FFFFFF"/>
                </a:solidFill>
                <a:latin typeface="Calibri"/>
              </a:defRPr>
            </a:pPr>
            <a:r>
              <a:t>Criar base de autoridade, prova e conversao.</a:t>
            </a:r>
          </a:p>
          <a:p>
            <a:pPr>
              <a:spcAft>
                <a:spcPts val="800"/>
              </a:spcAft>
              <a:defRPr sz="1700">
                <a:solidFill>
                  <a:srgbClr val="FFFFFF"/>
                </a:solidFill>
                <a:latin typeface="Calibri"/>
              </a:defRPr>
            </a:pPr>
            <a:r>
              <a:t>Arquitetura recomendada: Home, Quem Somos, Servicos, Setores, Insights e Contato.</a:t>
            </a:r>
          </a:p>
          <a:p>
            <a:pPr>
              <a:spcAft>
                <a:spcPts val="800"/>
              </a:spcAft>
              <a:defRPr sz="1700">
                <a:solidFill>
                  <a:srgbClr val="FFFFFF"/>
                </a:solidFill>
                <a:latin typeface="Calibri"/>
              </a:defRPr>
            </a:pPr>
            <a:r>
              <a:t>CTA para conversa estrategica e mensuracao pronta para midia.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798800" cy="162000"/>
          </a:xfrm>
          <a:prstGeom prst="rect">
            <a:avLst/>
          </a:prstGeom>
          <a:solidFill>
            <a:srgbClr val="E31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 Local Rise Princip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88000" y="234000"/>
            <a:ext cx="648000" cy="86406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24000" y="288000"/>
            <a:ext cx="4140000" cy="46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2400">
                <a:solidFill>
                  <a:srgbClr val="FFFFFF"/>
                </a:solidFill>
                <a:latin typeface="Calibri"/>
              </a:rPr>
              <a:t>Frente 2 | Instagram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2000" y="1044000"/>
            <a:ext cx="4031999" cy="14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FFFFFF"/>
                </a:solidFill>
                <a:latin typeface="Calibri"/>
              </a:defRPr>
            </a:pPr>
            <a:r>
              <a:t>Reposicionar o perfil para transmitir senioridade, clareza e consistencia.</a:t>
            </a:r>
          </a:p>
          <a:p>
            <a:pPr>
              <a:spcAft>
                <a:spcPts val="800"/>
              </a:spcAft>
              <a:defRPr sz="1700">
                <a:solidFill>
                  <a:srgbClr val="FFFFFF"/>
                </a:solidFill>
                <a:latin typeface="Calibri"/>
              </a:defRPr>
            </a:pPr>
            <a:r>
              <a:t>Pilares: autoridade, cenario, metodo, bastidores e conversao.</a:t>
            </a:r>
          </a:p>
          <a:p>
            <a:pPr>
              <a:spcAft>
                <a:spcPts val="800"/>
              </a:spcAft>
              <a:defRPr sz="1700">
                <a:solidFill>
                  <a:srgbClr val="FFFFFF"/>
                </a:solidFill>
                <a:latin typeface="Calibri"/>
              </a:defRPr>
            </a:pPr>
            <a:r>
              <a:t>Calendario minimo: 3 posts por semana + stories uteis em dias uteis.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798800" cy="162000"/>
          </a:xfrm>
          <a:prstGeom prst="rect">
            <a:avLst/>
          </a:prstGeom>
          <a:solidFill>
            <a:srgbClr val="E31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 Local Rise Princip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88000" y="234000"/>
            <a:ext cx="648000" cy="86406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24000" y="288000"/>
            <a:ext cx="4140000" cy="46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2400">
                <a:solidFill>
                  <a:srgbClr val="FFFFFF"/>
                </a:solidFill>
                <a:latin typeface="Calibri"/>
              </a:rPr>
              <a:t>Frente 3 | Meta Ads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2000" y="1044000"/>
            <a:ext cx="4031999" cy="14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FFFFFF"/>
                </a:solidFill>
                <a:latin typeface="Calibri"/>
              </a:defRPr>
            </a:pPr>
            <a:r>
              <a:t>Entrar depois do site e da oferta estarem prontos.</a:t>
            </a:r>
          </a:p>
          <a:p>
            <a:pPr>
              <a:spcAft>
                <a:spcPts val="800"/>
              </a:spcAft>
              <a:defRPr sz="1700">
                <a:solidFill>
                  <a:srgbClr val="FFFFFF"/>
                </a:solidFill>
                <a:latin typeface="Calibri"/>
              </a:defRPr>
            </a:pPr>
            <a:r>
              <a:t>Logica inicial: awareness qualificado, conteudo, remarketing e captacao.</a:t>
            </a:r>
          </a:p>
          <a:p>
            <a:pPr>
              <a:spcAft>
                <a:spcPts val="800"/>
              </a:spcAft>
              <a:defRPr sz="1700">
                <a:solidFill>
                  <a:srgbClr val="FFFFFF"/>
                </a:solidFill>
                <a:latin typeface="Calibri"/>
              </a:defRPr>
            </a:pPr>
            <a:r>
              <a:t>Sem base pronta, a campanha tende a comprar atencao e perder conversao.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798800" cy="162000"/>
          </a:xfrm>
          <a:prstGeom prst="rect">
            <a:avLst/>
          </a:prstGeom>
          <a:solidFill>
            <a:srgbClr val="E31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 Local Rise Princip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88000" y="234000"/>
            <a:ext cx="648000" cy="86406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24000" y="288000"/>
            <a:ext cx="4140000" cy="46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2400">
                <a:solidFill>
                  <a:srgbClr val="FFFFFF"/>
                </a:solidFill>
                <a:latin typeface="Calibri"/>
              </a:rPr>
              <a:t>Plano 90 dias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2000" y="1044000"/>
            <a:ext cx="4031999" cy="14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FFFFFF"/>
                </a:solidFill>
                <a:latin typeface="Calibri"/>
              </a:defRPr>
            </a:pPr>
            <a:r>
              <a:t>30 dias: posicionamento, copy central, sitemap, bio e ativos basicos.</a:t>
            </a:r>
          </a:p>
          <a:p>
            <a:pPr>
              <a:spcAft>
                <a:spcPts val="800"/>
              </a:spcAft>
              <a:defRPr sz="1700">
                <a:solidFill>
                  <a:srgbClr val="FFFFFF"/>
                </a:solidFill>
                <a:latin typeface="Calibri"/>
              </a:defRPr>
            </a:pPr>
            <a:r>
              <a:t>60 dias: site publicado, CTA funcionando e linha editorial rodando.</a:t>
            </a:r>
          </a:p>
          <a:p>
            <a:pPr>
              <a:spcAft>
                <a:spcPts val="800"/>
              </a:spcAft>
              <a:defRPr sz="1700">
                <a:solidFill>
                  <a:srgbClr val="FFFFFF"/>
                </a:solidFill>
                <a:latin typeface="Calibri"/>
              </a:defRPr>
            </a:pPr>
            <a:r>
              <a:t>90 dias: pixel, landing pages e ativacao de midia com criterio.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798800" cy="162000"/>
          </a:xfrm>
          <a:prstGeom prst="rect">
            <a:avLst/>
          </a:prstGeom>
          <a:solidFill>
            <a:srgbClr val="E31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 Local Rise Princip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88000" y="234000"/>
            <a:ext cx="648000" cy="86406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24000" y="288000"/>
            <a:ext cx="4140000" cy="46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2400">
                <a:solidFill>
                  <a:srgbClr val="FFFFFF"/>
                </a:solidFill>
                <a:latin typeface="Calibri"/>
              </a:rPr>
              <a:t>O que a LocalRise entrega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2000" y="1044000"/>
            <a:ext cx="4031999" cy="14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FFFFFF"/>
                </a:solidFill>
                <a:latin typeface="Calibri"/>
              </a:defRPr>
            </a:pPr>
            <a:r>
              <a:t>Mensagem comercial mais clara.</a:t>
            </a:r>
          </a:p>
          <a:p>
            <a:pPr>
              <a:spcAft>
                <a:spcPts val="800"/>
              </a:spcAft>
              <a:defRPr sz="1700">
                <a:solidFill>
                  <a:srgbClr val="FFFFFF"/>
                </a:solidFill>
                <a:latin typeface="Calibri"/>
              </a:defRPr>
            </a:pPr>
            <a:r>
              <a:t>Ativo proprio de captacao e prova.</a:t>
            </a:r>
          </a:p>
          <a:p>
            <a:pPr>
              <a:spcAft>
                <a:spcPts val="800"/>
              </a:spcAft>
              <a:defRPr sz="1700">
                <a:solidFill>
                  <a:srgbClr val="FFFFFF"/>
                </a:solidFill>
                <a:latin typeface="Calibri"/>
              </a:defRPr>
            </a:pPr>
            <a:r>
              <a:t>Conteudo de autoridade que prepara reunioes.</a:t>
            </a:r>
          </a:p>
          <a:p>
            <a:pPr>
              <a:spcAft>
                <a:spcPts val="800"/>
              </a:spcAft>
              <a:defRPr sz="1700">
                <a:solidFill>
                  <a:srgbClr val="FFFFFF"/>
                </a:solidFill>
                <a:latin typeface="Calibri"/>
              </a:defRPr>
            </a:pPr>
            <a:r>
              <a:t>Estrutura para escalar aquisicao com menos desperdicio.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798800" cy="162000"/>
          </a:xfrm>
          <a:prstGeom prst="rect">
            <a:avLst/>
          </a:prstGeom>
          <a:solidFill>
            <a:srgbClr val="E31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 Local Rise Princip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88000" y="234000"/>
            <a:ext cx="648000" cy="86406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24000" y="288000"/>
            <a:ext cx="4140000" cy="46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2400">
                <a:solidFill>
                  <a:srgbClr val="FFFFFF"/>
                </a:solidFill>
                <a:latin typeface="Calibri"/>
              </a:rPr>
              <a:t>Proximo passo recomendado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2000" y="1044000"/>
            <a:ext cx="4031999" cy="14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FFFFFF"/>
                </a:solidFill>
                <a:latin typeface="Calibri"/>
              </a:defRPr>
            </a:pPr>
            <a:r>
              <a:t>Validar internamente a Fase 1 como primeira venda.</a:t>
            </a:r>
          </a:p>
          <a:p>
            <a:pPr>
              <a:spcAft>
                <a:spcPts val="800"/>
              </a:spcAft>
              <a:defRPr sz="1700">
                <a:solidFill>
                  <a:srgbClr val="FFFFFF"/>
                </a:solidFill>
                <a:latin typeface="Calibri"/>
              </a:defRPr>
            </a:pPr>
            <a:r>
              <a:t>Levar esta narrativa para a reuniao com foco em site primeiro.</a:t>
            </a:r>
          </a:p>
          <a:p>
            <a:pPr>
              <a:spcAft>
                <a:spcPts val="800"/>
              </a:spcAft>
              <a:defRPr sz="1700">
                <a:solidFill>
                  <a:srgbClr val="FFFFFF"/>
                </a:solidFill>
                <a:latin typeface="Calibri"/>
              </a:defRPr>
            </a:pPr>
            <a:r>
              <a:t>Deixar Instagram e Meta Ads como expansao natural da base criada.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