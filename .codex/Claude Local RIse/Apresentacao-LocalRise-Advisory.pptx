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E7594-5E7F-ED16-FC72-C30CCE22B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88C719-541E-831E-B973-742A5F30A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45DABB-7EFA-3A67-BEDE-FD6774C2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7672CF-8169-696D-4BD4-98867462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A9F330-129F-0025-FEFF-712AD397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15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0EF96-E8DC-E350-F013-DCBADE46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87B5B8-762F-6832-B8EA-9C3218374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A778C9-6BED-A423-3BD9-35B9C74E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11163-70F4-5D29-E683-AD368706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2AAD70-C618-8BC2-9F8A-A4DE602E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34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25FA6-B476-A4EE-239D-3706E26A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5290E5-134B-7106-BE55-F8BD55A21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4733AA-3E76-1AB1-4AE0-6CEB4CE0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E03FC5-267A-7236-1265-157C9758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8520D8-83D3-E799-33AA-13999D75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664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2CCA0-D519-7059-4E93-39B94094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27152-A72D-C218-194D-2EF235FBE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354292-B1B7-60E9-B0A6-17CD74332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D4C258-AD10-3C13-E538-57401B29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6AD271-8520-48E5-29D3-7912AF09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D06958-8FC8-9ED1-90CA-D90D4320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22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F211A-6C41-23A8-B9B9-FAB1886B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2FAD5C-1A08-6710-A1C9-C6C83AE80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55888D-773B-3201-1258-5F31B440C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AE16AE-7BA4-D1F6-07BE-0939B279C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89ACD9-C56C-1D50-C2FE-6F9730887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EF1CB5-4289-7059-1B41-26E1E695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7925C79-BAAD-BB63-A8AA-595998BA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40AB8A-F305-DE23-CAE9-A7AE8358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2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5CAF8-51F5-B1B2-07CD-DCB97A28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0C45B6-2E9D-C4C5-6D47-3496B3B5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38E1D0-70DC-5EFE-0B71-07033986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2212B2-59DA-0A58-E9DF-1559D0FA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4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21F01B-72B2-8C4A-7097-4771146C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B04345-0FBE-A321-9E8D-C02C78C6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A1CA2C-7DB5-76CD-F7AB-BCE49D15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02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58F03-D6A3-7C98-3831-63FFA040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E7529B-2787-33CD-311D-B10F12DC9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CCC67C-AA6E-86A7-CE8F-B325CC3A1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6F6009-9BDB-C952-E975-ECFE5DDB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10E6A1-8AC4-D288-7AF3-25AC3B9D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8F950F-0B99-0225-8EEE-967FB6F5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09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0E2F0-1523-91F4-0E21-C872D4A1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C267CB9-6AA7-947E-5DEB-220E8DBCC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78B3A7-FC37-E86A-6206-B76939617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D73E0D-A998-86D0-DA6E-599F3D212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355700-E836-F680-03AD-2B44020FE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6A92E9-9753-922A-0A41-4E125AD8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92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7E118-47CA-2080-1928-DEA0BDBB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6861C0-2D67-7CB9-2877-BBB0ADBA1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E70439-D3D6-3008-8A15-9F04E358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65026B-04D9-CE8D-7F37-5490AFD3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5D25A1-21D1-D843-113E-60480D68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80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92D1E5-97FC-1262-B044-CC6185FB7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B0C9D0-8CBB-ABA3-7B57-AB4CAA567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D15BD-6F81-C581-E0A9-9EE63A20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6D8B60-04B6-2EE7-E7C5-954FE719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F74517-3E5C-D988-145C-1CD98E06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9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385A517-770E-C57B-A0A4-668A13ED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F0AE7D-3324-8D0D-2258-57ECEB079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00831-9443-9AEA-00CF-BF4891389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24CBD-B9C5-4E4F-B818-2BB868DD35F9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2EECFF-79F2-198E-262A-DBB8F1833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9D8074-F76C-0FEC-7246-7B261ACAE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80551-6254-4157-A08C-500D285D09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77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41C30381-F6AF-8D4A-E292-7C1EC20E236A}"/>
              </a:ext>
            </a:extLst>
          </p:cNvPr>
          <p:cNvSpPr/>
          <p:nvPr/>
        </p:nvSpPr>
        <p:spPr>
          <a:xfrm>
            <a:off x="10160000" y="-762000"/>
            <a:ext cx="3302000" cy="3302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C1B7DC8-1B76-248E-AD0D-A109C1B1D897}"/>
              </a:ext>
            </a:extLst>
          </p:cNvPr>
          <p:cNvSpPr/>
          <p:nvPr/>
        </p:nvSpPr>
        <p:spPr>
          <a:xfrm>
            <a:off x="-762000" y="4826000"/>
            <a:ext cx="2540000" cy="2540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0716EB8-B7BE-D111-E344-6821998E0022}"/>
              </a:ext>
            </a:extLst>
          </p:cNvPr>
          <p:cNvSpPr/>
          <p:nvPr/>
        </p:nvSpPr>
        <p:spPr>
          <a:xfrm>
            <a:off x="4889500" y="355600"/>
            <a:ext cx="2413000" cy="279400"/>
          </a:xfrm>
          <a:prstGeom prst="roundRect">
            <a:avLst>
              <a:gd name="adj" fmla="val 4000"/>
            </a:avLst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>
                <a:solidFill>
                  <a:srgbClr val="888888"/>
                </a:solidFill>
                <a:latin typeface="Segoe UI" panose="020B0502040204020203" pitchFamily="34" charset="0"/>
              </a:rPr>
              <a:t>DOCUMENTO CONFIDENCIAL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CA7661-D835-0AFD-67A7-5C8879D78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812800"/>
            <a:ext cx="457200" cy="6096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4840B50-CFE0-410D-A49C-ABEE0FA2B75E}"/>
              </a:ext>
            </a:extLst>
          </p:cNvPr>
          <p:cNvSpPr txBox="1"/>
          <p:nvPr/>
        </p:nvSpPr>
        <p:spPr>
          <a:xfrm>
            <a:off x="711200" y="1778000"/>
            <a:ext cx="107696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3600" b="1">
                <a:solidFill>
                  <a:srgbClr val="FFFFFF"/>
                </a:solidFill>
                <a:latin typeface="Segoe UI" panose="020B0502040204020203" pitchFamily="34" charset="0"/>
              </a:rPr>
              <a:t>Diagnostico 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360BA7-5623-974C-297E-6E919FB46CE8}"/>
              </a:ext>
            </a:extLst>
          </p:cNvPr>
          <p:cNvSpPr txBox="1"/>
          <p:nvPr/>
        </p:nvSpPr>
        <p:spPr>
          <a:xfrm>
            <a:off x="711200" y="2311400"/>
            <a:ext cx="10769600" cy="70788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000" b="1">
                <a:solidFill>
                  <a:srgbClr val="E31B23"/>
                </a:solidFill>
                <a:latin typeface="Segoe UI" panose="020B0502040204020203" pitchFamily="34" charset="0"/>
              </a:rPr>
              <a:t>Aceleracao Digital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C06CC77-8346-1595-9D47-1DA07B6360D3}"/>
              </a:ext>
            </a:extLst>
          </p:cNvPr>
          <p:cNvSpPr txBox="1"/>
          <p:nvPr/>
        </p:nvSpPr>
        <p:spPr>
          <a:xfrm>
            <a:off x="1727200" y="3111500"/>
            <a:ext cx="8737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>
                <a:solidFill>
                  <a:srgbClr val="888888"/>
                </a:solidFill>
                <a:latin typeface="Segoe UI" panose="020B0502040204020203" pitchFamily="34" charset="0"/>
              </a:rPr>
              <a:t>Analise estrategica de presenca digital e oportunidades de crescimento para suas churrascarias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5B97E2E-736F-0E7F-1665-01AA3B9AC9B7}"/>
              </a:ext>
            </a:extLst>
          </p:cNvPr>
          <p:cNvSpPr/>
          <p:nvPr/>
        </p:nvSpPr>
        <p:spPr>
          <a:xfrm>
            <a:off x="3302000" y="3937000"/>
            <a:ext cx="2667000" cy="431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CCCCCC"/>
                </a:solidFill>
                <a:latin typeface="Segoe UI" panose="020B0502040204020203" pitchFamily="34" charset="0"/>
              </a:rPr>
              <a:t>Terra do Churrasco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CED7F83-5EC6-89EC-894B-C5A3A13DD77D}"/>
              </a:ext>
            </a:extLst>
          </p:cNvPr>
          <p:cNvSpPr/>
          <p:nvPr/>
        </p:nvSpPr>
        <p:spPr>
          <a:xfrm>
            <a:off x="6223000" y="3937000"/>
            <a:ext cx="2667000" cy="431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CCCCCC"/>
                </a:solidFill>
                <a:latin typeface="Segoe UI" panose="020B0502040204020203" pitchFamily="34" charset="0"/>
              </a:rPr>
              <a:t>Estancia Churrascaria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60515D6-DFC9-A3AC-EB22-2060F9AFCBE6}"/>
              </a:ext>
            </a:extLst>
          </p:cNvPr>
          <p:cNvSpPr/>
          <p:nvPr/>
        </p:nvSpPr>
        <p:spPr>
          <a:xfrm>
            <a:off x="4318000" y="4635500"/>
            <a:ext cx="3556000" cy="330200"/>
          </a:xfrm>
          <a:prstGeom prst="roundRect">
            <a:avLst>
              <a:gd name="adj" fmla="val 4000"/>
            </a:avLst>
          </a:prstGeom>
          <a:solidFill>
            <a:srgbClr val="E31B23">
              <a:alpha val="12000"/>
            </a:srgbClr>
          </a:solidFill>
          <a:ln w="12700" cap="flat" cmpd="sng" algn="ctr">
            <a:solidFill>
              <a:srgbClr val="E31B23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FASE 1  -  TRAFEGO ORGANICO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23796AC-D2CB-8463-2372-92796C94D425}"/>
              </a:ext>
            </a:extLst>
          </p:cNvPr>
          <p:cNvSpPr txBox="1"/>
          <p:nvPr/>
        </p:nvSpPr>
        <p:spPr>
          <a:xfrm>
            <a:off x="711200" y="51435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>
                <a:solidFill>
                  <a:srgbClr val="555555"/>
                </a:solidFill>
                <a:latin typeface="Segoe UI" panose="020B0502040204020203" pitchFamily="34" charset="0"/>
              </a:rPr>
              <a:t>Porto Alegre, RS   -   Abril 2026   -   Confidencial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4E7C8A1-2933-809B-903D-EFFA52F738F9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ABD590B-77E3-CE40-7A62-E3D33B5FB00D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010D6A8-590F-657E-35D0-8FD6C7DE05CC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1</a:t>
            </a:r>
          </a:p>
        </p:txBody>
      </p:sp>
    </p:spTree>
    <p:extLst>
      <p:ext uri="{BB962C8B-B14F-4D97-AF65-F5344CB8AC3E}">
        <p14:creationId xmlns:p14="http://schemas.microsoft.com/office/powerpoint/2010/main" val="126372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22D8A210-1B5C-A4F5-0B2B-C414144D0748}"/>
              </a:ext>
            </a:extLst>
          </p:cNvPr>
          <p:cNvSpPr/>
          <p:nvPr/>
        </p:nvSpPr>
        <p:spPr>
          <a:xfrm>
            <a:off x="10668000" y="-635000"/>
            <a:ext cx="2540000" cy="2540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4780F7-93ED-A573-1820-63301F69094B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SUMARIO EXECUTIVO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8A8ADC-2B76-4C9A-31DD-D3D2513ED14D}"/>
              </a:ext>
            </a:extLst>
          </p:cNvPr>
          <p:cNvSpPr txBox="1"/>
          <p:nvPr/>
        </p:nvSpPr>
        <p:spPr>
          <a:xfrm>
            <a:off x="711200" y="7112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Segoe UI" panose="020B0502040204020203" pitchFamily="34" charset="0"/>
              </a:rPr>
              <a:t>Seus restaurantes perdem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CF96E3-4668-C4CE-8E33-11E43A97C622}"/>
              </a:ext>
            </a:extLst>
          </p:cNvPr>
          <p:cNvSpPr txBox="1"/>
          <p:nvPr/>
        </p:nvSpPr>
        <p:spPr>
          <a:xfrm>
            <a:off x="711200" y="11176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E31B23"/>
                </a:solidFill>
                <a:latin typeface="Segoe UI" panose="020B0502040204020203" pitchFamily="34" charset="0"/>
              </a:rPr>
              <a:t>faturamento digital constantemente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5F3148-40BE-3A7E-0A9A-ECEB1BBD4352}"/>
              </a:ext>
            </a:extLst>
          </p:cNvPr>
          <p:cNvSpPr txBox="1"/>
          <p:nvPr/>
        </p:nvSpPr>
        <p:spPr>
          <a:xfrm>
            <a:off x="711200" y="16256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Clientes que buscam "churrascaria Porto Alegre" no Google nao encontram seus restaurantes - ou encontram e nao confiam.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868DAE-1AA9-F82B-33A0-878E5469595A}"/>
              </a:ext>
            </a:extLst>
          </p:cNvPr>
          <p:cNvSpPr txBox="1"/>
          <p:nvPr/>
        </p:nvSpPr>
        <p:spPr>
          <a:xfrm>
            <a:off x="711200" y="21844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AAAAAA"/>
                </a:solidFill>
                <a:latin typeface="Segoe UI" panose="020B0502040204020203" pitchFamily="34" charset="0"/>
              </a:rPr>
              <a:t>Terra do Churrasco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1BEFD8-4E43-E86E-8257-EB7A9C98082A}"/>
              </a:ext>
            </a:extLst>
          </p:cNvPr>
          <p:cNvSpPr txBox="1"/>
          <p:nvPr/>
        </p:nvSpPr>
        <p:spPr>
          <a:xfrm>
            <a:off x="7188200" y="2184400"/>
            <a:ext cx="635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50/100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FC640C-1447-1FBA-52D5-E0AE9F84DCED}"/>
              </a:ext>
            </a:extLst>
          </p:cNvPr>
          <p:cNvSpPr/>
          <p:nvPr/>
        </p:nvSpPr>
        <p:spPr>
          <a:xfrm>
            <a:off x="711200" y="2387600"/>
            <a:ext cx="71120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FE54C3-A12C-89BA-6FF1-D7B1E11C8D8B}"/>
              </a:ext>
            </a:extLst>
          </p:cNvPr>
          <p:cNvSpPr/>
          <p:nvPr/>
        </p:nvSpPr>
        <p:spPr>
          <a:xfrm>
            <a:off x="711200" y="2387600"/>
            <a:ext cx="35560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E65278B-21DD-F5EB-12E1-61C8F62CC7B3}"/>
              </a:ext>
            </a:extLst>
          </p:cNvPr>
          <p:cNvSpPr txBox="1"/>
          <p:nvPr/>
        </p:nvSpPr>
        <p:spPr>
          <a:xfrm>
            <a:off x="711200" y="26162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AAAAAA"/>
                </a:solidFill>
                <a:latin typeface="Segoe UI" panose="020B0502040204020203" pitchFamily="34" charset="0"/>
              </a:rPr>
              <a:t>Estancia Churrascaria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FAF002-0DB4-26A8-D407-B3EEB5177101}"/>
              </a:ext>
            </a:extLst>
          </p:cNvPr>
          <p:cNvSpPr txBox="1"/>
          <p:nvPr/>
        </p:nvSpPr>
        <p:spPr>
          <a:xfrm>
            <a:off x="7188200" y="2616200"/>
            <a:ext cx="635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16/100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94191B0-CC19-A814-85BB-76540B33F143}"/>
              </a:ext>
            </a:extLst>
          </p:cNvPr>
          <p:cNvSpPr/>
          <p:nvPr/>
        </p:nvSpPr>
        <p:spPr>
          <a:xfrm>
            <a:off x="711200" y="2819400"/>
            <a:ext cx="71120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C3BBA84-31FE-C28F-4D76-0EDA19B64FAD}"/>
              </a:ext>
            </a:extLst>
          </p:cNvPr>
          <p:cNvSpPr/>
          <p:nvPr/>
        </p:nvSpPr>
        <p:spPr>
          <a:xfrm>
            <a:off x="711200" y="2819400"/>
            <a:ext cx="11430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0C15EE5-F39E-2FA1-FA3F-DD41843877D3}"/>
              </a:ext>
            </a:extLst>
          </p:cNvPr>
          <p:cNvSpPr txBox="1"/>
          <p:nvPr/>
        </p:nvSpPr>
        <p:spPr>
          <a:xfrm>
            <a:off x="711200" y="30480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AAAAAA"/>
                </a:solidFill>
                <a:latin typeface="Segoe UI" panose="020B0502040204020203" pitchFamily="34" charset="0"/>
              </a:rPr>
              <a:t>Benchmark Top 3 (Barranco, Komka)</a:t>
            </a:r>
            <a:endParaRPr lang="pt-BR" sz="1000" b="1">
              <a:solidFill>
                <a:srgbClr val="AAAAA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AE7ED5E-7338-5724-F91D-E5412391D434}"/>
              </a:ext>
            </a:extLst>
          </p:cNvPr>
          <p:cNvSpPr txBox="1"/>
          <p:nvPr/>
        </p:nvSpPr>
        <p:spPr>
          <a:xfrm>
            <a:off x="7188200" y="3048000"/>
            <a:ext cx="635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85/100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ACEDADC-A8A6-166D-8EB7-9E9B9BBE7970}"/>
              </a:ext>
            </a:extLst>
          </p:cNvPr>
          <p:cNvSpPr/>
          <p:nvPr/>
        </p:nvSpPr>
        <p:spPr>
          <a:xfrm>
            <a:off x="711200" y="3251200"/>
            <a:ext cx="71120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3116233-021B-4D8B-3A0F-59B134B2401B}"/>
              </a:ext>
            </a:extLst>
          </p:cNvPr>
          <p:cNvSpPr/>
          <p:nvPr/>
        </p:nvSpPr>
        <p:spPr>
          <a:xfrm>
            <a:off x="711200" y="3251200"/>
            <a:ext cx="6045200" cy="762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971D921-203D-7F46-78F2-77D04C38B598}"/>
              </a:ext>
            </a:extLst>
          </p:cNvPr>
          <p:cNvSpPr/>
          <p:nvPr/>
        </p:nvSpPr>
        <p:spPr>
          <a:xfrm>
            <a:off x="8382000" y="2184400"/>
            <a:ext cx="3175000" cy="12065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944E5A7-0D32-D204-50DC-C008E9CDBD7D}"/>
              </a:ext>
            </a:extLst>
          </p:cNvPr>
          <p:cNvSpPr txBox="1"/>
          <p:nvPr/>
        </p:nvSpPr>
        <p:spPr>
          <a:xfrm>
            <a:off x="8534400" y="2247900"/>
            <a:ext cx="28702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E31B23"/>
                </a:solidFill>
                <a:latin typeface="Segoe UI" panose="020B0502040204020203" pitchFamily="34" charset="0"/>
              </a:rPr>
              <a:t>INSIGHT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3E9A438-3B82-6A24-AE08-D9C6D6B0A83F}"/>
              </a:ext>
            </a:extLst>
          </p:cNvPr>
          <p:cNvSpPr txBox="1"/>
          <p:nvPr/>
        </p:nvSpPr>
        <p:spPr>
          <a:xfrm>
            <a:off x="8534400" y="2476500"/>
            <a:ext cx="2870200" cy="5078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A distancia entre seus restaurantes e o Top 3 e puramente infraestrutura digital: site, Google Posts e gestao de reviews.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DEA07F4-C595-9A1C-FAE1-7075F950E153}"/>
              </a:ext>
            </a:extLst>
          </p:cNvPr>
          <p:cNvSpPr/>
          <p:nvPr/>
        </p:nvSpPr>
        <p:spPr>
          <a:xfrm>
            <a:off x="711200" y="3937000"/>
            <a:ext cx="10769600" cy="889000"/>
          </a:xfrm>
          <a:prstGeom prst="roundRect">
            <a:avLst>
              <a:gd name="adj" fmla="val 4000"/>
            </a:avLst>
          </a:prstGeom>
          <a:solidFill>
            <a:srgbClr val="E31B23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549954C-5152-A68A-CBFD-A082053AE26A}"/>
              </a:ext>
            </a:extLst>
          </p:cNvPr>
          <p:cNvSpPr/>
          <p:nvPr/>
        </p:nvSpPr>
        <p:spPr>
          <a:xfrm>
            <a:off x="711200" y="3937000"/>
            <a:ext cx="38100" cy="8890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935C310-8B13-D992-BCB7-510B2B7994C7}"/>
              </a:ext>
            </a:extLst>
          </p:cNvPr>
          <p:cNvSpPr txBox="1"/>
          <p:nvPr/>
        </p:nvSpPr>
        <p:spPr>
          <a:xfrm>
            <a:off x="889000" y="39878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Foco: Fase 1 - Trafego Organico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63DA664-45EC-4479-F559-3498EC8D4338}"/>
              </a:ext>
            </a:extLst>
          </p:cNvPr>
          <p:cNvSpPr txBox="1"/>
          <p:nvPr/>
        </p:nvSpPr>
        <p:spPr>
          <a:xfrm>
            <a:off x="889000" y="4216400"/>
            <a:ext cx="1041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Neste primeiro momento, o foco e estruturar a base digital dos restaurantes para garantir presenca forte, profissional e convertendo clientes atraves do Google e canais organicos.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00D09155-2989-2F90-1832-3F60A01464AE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9DB5877-DDFB-BA5F-8BF1-F85AF88CA24B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E3ADDF0-4CDD-FC91-5177-F24D7AB84ABF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2</a:t>
            </a:r>
          </a:p>
        </p:txBody>
      </p:sp>
    </p:spTree>
    <p:extLst>
      <p:ext uri="{BB962C8B-B14F-4D97-AF65-F5344CB8AC3E}">
        <p14:creationId xmlns:p14="http://schemas.microsoft.com/office/powerpoint/2010/main" val="75343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4D61A334-1F75-1569-E830-99AB66E43421}"/>
              </a:ext>
            </a:extLst>
          </p:cNvPr>
          <p:cNvSpPr/>
          <p:nvPr/>
        </p:nvSpPr>
        <p:spPr>
          <a:xfrm>
            <a:off x="-635000" y="5080000"/>
            <a:ext cx="2286000" cy="2286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D71D40-F81F-4A48-C046-0CAE8FB632C1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FOTOGRAFIA ATUAL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8F3F0A-98AF-41A5-C2FC-B524A6AD97E4}"/>
              </a:ext>
            </a:extLst>
          </p:cNvPr>
          <p:cNvSpPr txBox="1"/>
          <p:nvPr/>
        </p:nvSpPr>
        <p:spPr>
          <a:xfrm>
            <a:off x="711200" y="7112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Segoe UI" panose="020B0502040204020203" pitchFamily="34" charset="0"/>
              </a:rPr>
              <a:t>Dois restaurantes, dois diagnosticos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8ECA186-A916-3A12-C05E-7182406E8120}"/>
              </a:ext>
            </a:extLst>
          </p:cNvPr>
          <p:cNvSpPr/>
          <p:nvPr/>
        </p:nvSpPr>
        <p:spPr>
          <a:xfrm>
            <a:off x="711200" y="1270000"/>
            <a:ext cx="5207000" cy="4318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2EF738-E023-EC63-8DF4-CD8852AF2113}"/>
              </a:ext>
            </a:extLst>
          </p:cNvPr>
          <p:cNvSpPr txBox="1"/>
          <p:nvPr/>
        </p:nvSpPr>
        <p:spPr>
          <a:xfrm>
            <a:off x="914400" y="1422400"/>
            <a:ext cx="4800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TERRA DO CHURRASCO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477D83-40A0-42EA-F217-2D66A212DEA4}"/>
              </a:ext>
            </a:extLst>
          </p:cNvPr>
          <p:cNvSpPr txBox="1"/>
          <p:nvPr/>
        </p:nvSpPr>
        <p:spPr>
          <a:xfrm>
            <a:off x="914400" y="1651000"/>
            <a:ext cx="48006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"Tem marca. Nao tem maquina."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8A1908-78BD-A33A-32BA-8A74FF526738}"/>
              </a:ext>
            </a:extLst>
          </p:cNvPr>
          <p:cNvSpPr txBox="1"/>
          <p:nvPr/>
        </p:nvSpPr>
        <p:spPr>
          <a:xfrm>
            <a:off x="914400" y="1981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Marca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55A5CE-75F6-5DD1-AC4B-85ADE13582CF}"/>
              </a:ext>
            </a:extLst>
          </p:cNvPr>
          <p:cNvSpPr txBox="1"/>
          <p:nvPr/>
        </p:nvSpPr>
        <p:spPr>
          <a:xfrm>
            <a:off x="5156200" y="1981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80%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476CA0-D1F3-16BE-9FD0-13FDD48FC88D}"/>
              </a:ext>
            </a:extLst>
          </p:cNvPr>
          <p:cNvSpPr/>
          <p:nvPr/>
        </p:nvSpPr>
        <p:spPr>
          <a:xfrm>
            <a:off x="914400" y="2159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40B039B-A70B-0CB8-E178-6A2E7321E6A1}"/>
              </a:ext>
            </a:extLst>
          </p:cNvPr>
          <p:cNvSpPr/>
          <p:nvPr/>
        </p:nvSpPr>
        <p:spPr>
          <a:xfrm>
            <a:off x="914400" y="2159000"/>
            <a:ext cx="38354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F4EF982-971D-5B3E-4B1A-79EDB9CC0D3D}"/>
              </a:ext>
            </a:extLst>
          </p:cNvPr>
          <p:cNvSpPr txBox="1"/>
          <p:nvPr/>
        </p:nvSpPr>
        <p:spPr>
          <a:xfrm>
            <a:off x="914400" y="2362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GBP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291D656-A4B5-1511-47C6-E0B4D89EC9F3}"/>
              </a:ext>
            </a:extLst>
          </p:cNvPr>
          <p:cNvSpPr txBox="1"/>
          <p:nvPr/>
        </p:nvSpPr>
        <p:spPr>
          <a:xfrm>
            <a:off x="5156200" y="2362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50%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C4FD2D4-E8CA-B725-27B6-489A7298E515}"/>
              </a:ext>
            </a:extLst>
          </p:cNvPr>
          <p:cNvSpPr/>
          <p:nvPr/>
        </p:nvSpPr>
        <p:spPr>
          <a:xfrm>
            <a:off x="914400" y="2540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8C97E1E-CAE1-C3D7-B7FF-E9DE8852DB8C}"/>
              </a:ext>
            </a:extLst>
          </p:cNvPr>
          <p:cNvSpPr/>
          <p:nvPr/>
        </p:nvSpPr>
        <p:spPr>
          <a:xfrm>
            <a:off x="914400" y="2540000"/>
            <a:ext cx="24003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E04D3C6-A2B2-5165-62FE-9D175907D943}"/>
              </a:ext>
            </a:extLst>
          </p:cNvPr>
          <p:cNvSpPr txBox="1"/>
          <p:nvPr/>
        </p:nvSpPr>
        <p:spPr>
          <a:xfrm>
            <a:off x="914400" y="2743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Instagram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3E98970-049F-150A-AF56-119D3F620CEF}"/>
              </a:ext>
            </a:extLst>
          </p:cNvPr>
          <p:cNvSpPr txBox="1"/>
          <p:nvPr/>
        </p:nvSpPr>
        <p:spPr>
          <a:xfrm>
            <a:off x="5156200" y="2743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85%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EAEDF25-D8CC-1507-0997-FCC940008A41}"/>
              </a:ext>
            </a:extLst>
          </p:cNvPr>
          <p:cNvSpPr/>
          <p:nvPr/>
        </p:nvSpPr>
        <p:spPr>
          <a:xfrm>
            <a:off x="914400" y="2921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58491B-2B4E-E0FC-68ED-0D967F80DFD3}"/>
              </a:ext>
            </a:extLst>
          </p:cNvPr>
          <p:cNvSpPr/>
          <p:nvPr/>
        </p:nvSpPr>
        <p:spPr>
          <a:xfrm>
            <a:off x="914400" y="2921000"/>
            <a:ext cx="40767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C21FF3A-A984-B645-71DA-14785FA4EFC2}"/>
              </a:ext>
            </a:extLst>
          </p:cNvPr>
          <p:cNvSpPr txBox="1"/>
          <p:nvPr/>
        </p:nvSpPr>
        <p:spPr>
          <a:xfrm>
            <a:off x="914400" y="3124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Site/SEO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F031740-070C-564C-281E-78BECBAAF556}"/>
              </a:ext>
            </a:extLst>
          </p:cNvPr>
          <p:cNvSpPr txBox="1"/>
          <p:nvPr/>
        </p:nvSpPr>
        <p:spPr>
          <a:xfrm>
            <a:off x="5156200" y="3124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0%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C1E9616-EDEF-0C08-24F3-93E088696F9B}"/>
              </a:ext>
            </a:extLst>
          </p:cNvPr>
          <p:cNvSpPr/>
          <p:nvPr/>
        </p:nvSpPr>
        <p:spPr>
          <a:xfrm>
            <a:off x="914400" y="3302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230E622-4B85-8C30-C791-7A985573EADF}"/>
              </a:ext>
            </a:extLst>
          </p:cNvPr>
          <p:cNvSpPr/>
          <p:nvPr/>
        </p:nvSpPr>
        <p:spPr>
          <a:xfrm>
            <a:off x="914400" y="3302000"/>
            <a:ext cx="254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F4362B7-D832-4B06-57D2-3F6568F4B91D}"/>
              </a:ext>
            </a:extLst>
          </p:cNvPr>
          <p:cNvSpPr txBox="1"/>
          <p:nvPr/>
        </p:nvSpPr>
        <p:spPr>
          <a:xfrm>
            <a:off x="914400" y="3505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Conversao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1096908-7FFA-71BC-66DF-A4E73BB038D3}"/>
              </a:ext>
            </a:extLst>
          </p:cNvPr>
          <p:cNvSpPr txBox="1"/>
          <p:nvPr/>
        </p:nvSpPr>
        <p:spPr>
          <a:xfrm>
            <a:off x="5156200" y="3505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20%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A0A8C7B-5FB7-4DD4-FF52-F51BCB49F554}"/>
              </a:ext>
            </a:extLst>
          </p:cNvPr>
          <p:cNvSpPr/>
          <p:nvPr/>
        </p:nvSpPr>
        <p:spPr>
          <a:xfrm>
            <a:off x="914400" y="3683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74EA445-B588-C043-AF92-5D196A100CB6}"/>
              </a:ext>
            </a:extLst>
          </p:cNvPr>
          <p:cNvSpPr/>
          <p:nvPr/>
        </p:nvSpPr>
        <p:spPr>
          <a:xfrm>
            <a:off x="914400" y="3683000"/>
            <a:ext cx="9652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3FC65F-8E72-0713-A133-1BAF8607257F}"/>
              </a:ext>
            </a:extLst>
          </p:cNvPr>
          <p:cNvSpPr txBox="1"/>
          <p:nvPr/>
        </p:nvSpPr>
        <p:spPr>
          <a:xfrm>
            <a:off x="914400" y="3886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Reputacao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7729848-6CF6-B12A-A13B-B812418DCF98}"/>
              </a:ext>
            </a:extLst>
          </p:cNvPr>
          <p:cNvSpPr txBox="1"/>
          <p:nvPr/>
        </p:nvSpPr>
        <p:spPr>
          <a:xfrm>
            <a:off x="5156200" y="3886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65%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FD11036-E43F-4D75-6FD5-5385ED724275}"/>
              </a:ext>
            </a:extLst>
          </p:cNvPr>
          <p:cNvSpPr/>
          <p:nvPr/>
        </p:nvSpPr>
        <p:spPr>
          <a:xfrm>
            <a:off x="914400" y="4064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EED3964-9326-7261-5BC2-AE7BE1FA3E7E}"/>
              </a:ext>
            </a:extLst>
          </p:cNvPr>
          <p:cNvSpPr/>
          <p:nvPr/>
        </p:nvSpPr>
        <p:spPr>
          <a:xfrm>
            <a:off x="914400" y="4064000"/>
            <a:ext cx="31242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D5A9179-43BA-9768-D571-F6BF8C5B6DBF}"/>
              </a:ext>
            </a:extLst>
          </p:cNvPr>
          <p:cNvSpPr/>
          <p:nvPr/>
        </p:nvSpPr>
        <p:spPr>
          <a:xfrm>
            <a:off x="914400" y="4343400"/>
            <a:ext cx="4800600" cy="330200"/>
          </a:xfrm>
          <a:prstGeom prst="roundRect">
            <a:avLst>
              <a:gd name="adj" fmla="val 4000"/>
            </a:avLst>
          </a:prstGeom>
          <a:noFill/>
          <a:ln w="12700" cap="flat" cmpd="sng" algn="ctr">
            <a:solidFill>
              <a:srgbClr val="252525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NOTA GERAL: 50/100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07A4162-2883-7B4E-7C7A-6616084BFD1C}"/>
              </a:ext>
            </a:extLst>
          </p:cNvPr>
          <p:cNvSpPr/>
          <p:nvPr/>
        </p:nvSpPr>
        <p:spPr>
          <a:xfrm>
            <a:off x="6273800" y="1270000"/>
            <a:ext cx="5207000" cy="4318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E8CC697-EB9C-803F-EBA6-F250F0083C96}"/>
              </a:ext>
            </a:extLst>
          </p:cNvPr>
          <p:cNvSpPr txBox="1"/>
          <p:nvPr/>
        </p:nvSpPr>
        <p:spPr>
          <a:xfrm>
            <a:off x="6477000" y="1422400"/>
            <a:ext cx="4800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ESTANCIA CHURRASCARIA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84AB933-8237-BD0F-5608-7C068C2C09F7}"/>
              </a:ext>
            </a:extLst>
          </p:cNvPr>
          <p:cNvSpPr txBox="1"/>
          <p:nvPr/>
        </p:nvSpPr>
        <p:spPr>
          <a:xfrm>
            <a:off x="6477000" y="1651000"/>
            <a:ext cx="48006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"Presenca digital inexistente."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69323AA-0559-045A-38A3-0FD5459B6BDD}"/>
              </a:ext>
            </a:extLst>
          </p:cNvPr>
          <p:cNvSpPr txBox="1"/>
          <p:nvPr/>
        </p:nvSpPr>
        <p:spPr>
          <a:xfrm>
            <a:off x="6477000" y="1981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Marca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65B08A4-C31F-4023-1C6E-4A0D51401A82}"/>
              </a:ext>
            </a:extLst>
          </p:cNvPr>
          <p:cNvSpPr txBox="1"/>
          <p:nvPr/>
        </p:nvSpPr>
        <p:spPr>
          <a:xfrm>
            <a:off x="10718800" y="1981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30%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3BA17CD-B306-FDC4-16FA-A4A4353AB6C8}"/>
              </a:ext>
            </a:extLst>
          </p:cNvPr>
          <p:cNvSpPr/>
          <p:nvPr/>
        </p:nvSpPr>
        <p:spPr>
          <a:xfrm>
            <a:off x="6477000" y="2159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9C97610-2226-54AA-B56E-8CD2F604FEC2}"/>
              </a:ext>
            </a:extLst>
          </p:cNvPr>
          <p:cNvSpPr/>
          <p:nvPr/>
        </p:nvSpPr>
        <p:spPr>
          <a:xfrm>
            <a:off x="6477000" y="2159000"/>
            <a:ext cx="14351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27EB538-111B-9873-AC68-13A56F55E058}"/>
              </a:ext>
            </a:extLst>
          </p:cNvPr>
          <p:cNvSpPr txBox="1"/>
          <p:nvPr/>
        </p:nvSpPr>
        <p:spPr>
          <a:xfrm>
            <a:off x="6477000" y="2362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GBP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367D688-42F3-13D3-EDB9-C3A97469C200}"/>
              </a:ext>
            </a:extLst>
          </p:cNvPr>
          <p:cNvSpPr txBox="1"/>
          <p:nvPr/>
        </p:nvSpPr>
        <p:spPr>
          <a:xfrm>
            <a:off x="10718800" y="2362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20%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A0C1D1C-A268-DA2C-9737-660070B73A6A}"/>
              </a:ext>
            </a:extLst>
          </p:cNvPr>
          <p:cNvSpPr/>
          <p:nvPr/>
        </p:nvSpPr>
        <p:spPr>
          <a:xfrm>
            <a:off x="6477000" y="2540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792E1BC-B7A1-5203-F755-D97DEF6B6CC7}"/>
              </a:ext>
            </a:extLst>
          </p:cNvPr>
          <p:cNvSpPr/>
          <p:nvPr/>
        </p:nvSpPr>
        <p:spPr>
          <a:xfrm>
            <a:off x="6477000" y="2540000"/>
            <a:ext cx="9652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BC71FA1-E3FC-AC93-54F9-593BEFD7F2BF}"/>
              </a:ext>
            </a:extLst>
          </p:cNvPr>
          <p:cNvSpPr txBox="1"/>
          <p:nvPr/>
        </p:nvSpPr>
        <p:spPr>
          <a:xfrm>
            <a:off x="6477000" y="2743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Instagram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10C70AD-47AF-1DCF-CCC7-2D9DB11766CE}"/>
              </a:ext>
            </a:extLst>
          </p:cNvPr>
          <p:cNvSpPr txBox="1"/>
          <p:nvPr/>
        </p:nvSpPr>
        <p:spPr>
          <a:xfrm>
            <a:off x="10718800" y="2743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15%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7DB8B993-0A50-FC48-EF69-FC1CB5ED8499}"/>
              </a:ext>
            </a:extLst>
          </p:cNvPr>
          <p:cNvSpPr/>
          <p:nvPr/>
        </p:nvSpPr>
        <p:spPr>
          <a:xfrm>
            <a:off x="6477000" y="2921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CB02D7F4-D417-FB78-1B97-E6E07F547697}"/>
              </a:ext>
            </a:extLst>
          </p:cNvPr>
          <p:cNvSpPr/>
          <p:nvPr/>
        </p:nvSpPr>
        <p:spPr>
          <a:xfrm>
            <a:off x="6477000" y="2921000"/>
            <a:ext cx="7239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5BFE3DC-BA34-7D7C-48BA-8B05B103FC0D}"/>
              </a:ext>
            </a:extLst>
          </p:cNvPr>
          <p:cNvSpPr txBox="1"/>
          <p:nvPr/>
        </p:nvSpPr>
        <p:spPr>
          <a:xfrm>
            <a:off x="6477000" y="3124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Site/SEO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E27C8F0-8BD3-51CF-CA90-7F3B2B6092D7}"/>
              </a:ext>
            </a:extLst>
          </p:cNvPr>
          <p:cNvSpPr txBox="1"/>
          <p:nvPr/>
        </p:nvSpPr>
        <p:spPr>
          <a:xfrm>
            <a:off x="10718800" y="3124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0%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8B624FD-300B-8F89-E336-B55162D9CCDD}"/>
              </a:ext>
            </a:extLst>
          </p:cNvPr>
          <p:cNvSpPr/>
          <p:nvPr/>
        </p:nvSpPr>
        <p:spPr>
          <a:xfrm>
            <a:off x="6477000" y="3302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93DD5AA1-0569-64F2-8802-C4768B83ACBA}"/>
              </a:ext>
            </a:extLst>
          </p:cNvPr>
          <p:cNvSpPr/>
          <p:nvPr/>
        </p:nvSpPr>
        <p:spPr>
          <a:xfrm>
            <a:off x="6477000" y="3302000"/>
            <a:ext cx="254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63E16ABB-F62F-ACCE-4926-C5016407C5B9}"/>
              </a:ext>
            </a:extLst>
          </p:cNvPr>
          <p:cNvSpPr txBox="1"/>
          <p:nvPr/>
        </p:nvSpPr>
        <p:spPr>
          <a:xfrm>
            <a:off x="6477000" y="3505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Conversao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A9278AA-D2DE-3CE6-DAB7-D161CD564517}"/>
              </a:ext>
            </a:extLst>
          </p:cNvPr>
          <p:cNvSpPr txBox="1"/>
          <p:nvPr/>
        </p:nvSpPr>
        <p:spPr>
          <a:xfrm>
            <a:off x="10718800" y="3505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10%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CCA37F07-7762-30B3-007C-CD14C6098F28}"/>
              </a:ext>
            </a:extLst>
          </p:cNvPr>
          <p:cNvSpPr/>
          <p:nvPr/>
        </p:nvSpPr>
        <p:spPr>
          <a:xfrm>
            <a:off x="6477000" y="3683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157EA62C-F526-0EC7-AEAD-9F9256AAAF4B}"/>
              </a:ext>
            </a:extLst>
          </p:cNvPr>
          <p:cNvSpPr/>
          <p:nvPr/>
        </p:nvSpPr>
        <p:spPr>
          <a:xfrm>
            <a:off x="6477000" y="3683000"/>
            <a:ext cx="4826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9ADDCE4-120C-5767-AF5C-C937073E3544}"/>
              </a:ext>
            </a:extLst>
          </p:cNvPr>
          <p:cNvSpPr txBox="1"/>
          <p:nvPr/>
        </p:nvSpPr>
        <p:spPr>
          <a:xfrm>
            <a:off x="6477000" y="3886200"/>
            <a:ext cx="23495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Reputacao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7804C49-1BC2-E3D4-85A2-C34B5447A891}"/>
              </a:ext>
            </a:extLst>
          </p:cNvPr>
          <p:cNvSpPr txBox="1"/>
          <p:nvPr/>
        </p:nvSpPr>
        <p:spPr>
          <a:xfrm>
            <a:off x="10718800" y="3886200"/>
            <a:ext cx="5588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20%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1C1DC958-719E-C5AD-D2A8-069131F7DE3E}"/>
              </a:ext>
            </a:extLst>
          </p:cNvPr>
          <p:cNvSpPr/>
          <p:nvPr/>
        </p:nvSpPr>
        <p:spPr>
          <a:xfrm>
            <a:off x="6477000" y="4064000"/>
            <a:ext cx="4800600" cy="762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C67054D2-3F0B-E440-7621-66BBEC88AF20}"/>
              </a:ext>
            </a:extLst>
          </p:cNvPr>
          <p:cNvSpPr/>
          <p:nvPr/>
        </p:nvSpPr>
        <p:spPr>
          <a:xfrm>
            <a:off x="6477000" y="4064000"/>
            <a:ext cx="965200" cy="76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0F630E0D-E592-F2E4-95F7-F378979A99FE}"/>
              </a:ext>
            </a:extLst>
          </p:cNvPr>
          <p:cNvSpPr/>
          <p:nvPr/>
        </p:nvSpPr>
        <p:spPr>
          <a:xfrm>
            <a:off x="6477000" y="4343400"/>
            <a:ext cx="4800600" cy="330200"/>
          </a:xfrm>
          <a:prstGeom prst="roundRect">
            <a:avLst>
              <a:gd name="adj" fmla="val 4000"/>
            </a:avLst>
          </a:prstGeom>
          <a:noFill/>
          <a:ln w="12700" cap="flat" cmpd="sng" algn="ctr">
            <a:solidFill>
              <a:srgbClr val="252525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NOTA GERAL: 16/100</a:t>
            </a:r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7547188B-2398-DFF8-517B-F66F15B2B34C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B6C91A3-791A-1F24-FDAF-4BE945BD5584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640CD9B3-5EB5-2579-6485-8B3F6C7BA09F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3</a:t>
            </a:r>
          </a:p>
        </p:txBody>
      </p:sp>
    </p:spTree>
    <p:extLst>
      <p:ext uri="{BB962C8B-B14F-4D97-AF65-F5344CB8AC3E}">
        <p14:creationId xmlns:p14="http://schemas.microsoft.com/office/powerpoint/2010/main" val="3085508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7D05D9C-B9BA-33FE-8AB8-5B2AE6A20878}"/>
              </a:ext>
            </a:extLst>
          </p:cNvPr>
          <p:cNvSpPr/>
          <p:nvPr/>
        </p:nvSpPr>
        <p:spPr>
          <a:xfrm>
            <a:off x="10922000" y="-508000"/>
            <a:ext cx="2286000" cy="2286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7A8D7D-2968-6BFB-BC33-D2DB00A5050C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DIAGNOSTICO - TERRA DO CHURRASCO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9DCFCC-17E8-FB17-9D44-101EA802308F}"/>
              </a:ext>
            </a:extLst>
          </p:cNvPr>
          <p:cNvSpPr txBox="1"/>
          <p:nvPr/>
        </p:nvSpPr>
        <p:spPr>
          <a:xfrm>
            <a:off x="711200" y="7112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E31B23"/>
                </a:solidFill>
                <a:latin typeface="Segoe UI" panose="020B0502040204020203" pitchFamily="34" charset="0"/>
              </a:rPr>
              <a:t>5 pontos criticos identificados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4EA47A-5EEB-F8F2-03AA-82C4FF319FF4}"/>
              </a:ext>
            </a:extLst>
          </p:cNvPr>
          <p:cNvSpPr txBox="1"/>
          <p:nvPr/>
        </p:nvSpPr>
        <p:spPr>
          <a:xfrm>
            <a:off x="711200" y="12192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Ativos fortes (42K seguidores, 943 reviews 4.6) - sem estrutura digital para capitalizar.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071ABC0-7B9F-9EB8-CEDD-6B103E25E9F5}"/>
              </a:ext>
            </a:extLst>
          </p:cNvPr>
          <p:cNvSpPr/>
          <p:nvPr/>
        </p:nvSpPr>
        <p:spPr>
          <a:xfrm>
            <a:off x="711200" y="1600200"/>
            <a:ext cx="3378200" cy="9144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5C747A-C257-7216-E9C6-959874353B5A}"/>
              </a:ext>
            </a:extLst>
          </p:cNvPr>
          <p:cNvSpPr txBox="1"/>
          <p:nvPr/>
        </p:nvSpPr>
        <p:spPr>
          <a:xfrm>
            <a:off x="812800" y="1701800"/>
            <a:ext cx="317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SEGUIDORES IG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567B93F-A137-1F95-9968-F7FFA27D6194}"/>
              </a:ext>
            </a:extLst>
          </p:cNvPr>
          <p:cNvSpPr txBox="1"/>
          <p:nvPr/>
        </p:nvSpPr>
        <p:spPr>
          <a:xfrm>
            <a:off x="812800" y="1905000"/>
            <a:ext cx="3175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Segoe UI" panose="020B0502040204020203" pitchFamily="34" charset="0"/>
              </a:rPr>
              <a:t>42K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5C00348-32C3-C389-B304-72F16C65960A}"/>
              </a:ext>
            </a:extLst>
          </p:cNvPr>
          <p:cNvSpPr txBox="1"/>
          <p:nvPr/>
        </p:nvSpPr>
        <p:spPr>
          <a:xfrm>
            <a:off x="812800" y="23114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>
                <a:solidFill>
                  <a:srgbClr val="555555"/>
                </a:solidFill>
                <a:latin typeface="Segoe UI" panose="020B0502040204020203" pitchFamily="34" charset="0"/>
              </a:rPr>
              <a:t>base excepcional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2533B51-A257-CF50-1F52-930E0747DC8D}"/>
              </a:ext>
            </a:extLst>
          </p:cNvPr>
          <p:cNvSpPr/>
          <p:nvPr/>
        </p:nvSpPr>
        <p:spPr>
          <a:xfrm>
            <a:off x="4216400" y="1600200"/>
            <a:ext cx="3378200" cy="9144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C8DC4AA-2120-06C7-3AC0-CD268B8C61A3}"/>
              </a:ext>
            </a:extLst>
          </p:cNvPr>
          <p:cNvSpPr txBox="1"/>
          <p:nvPr/>
        </p:nvSpPr>
        <p:spPr>
          <a:xfrm>
            <a:off x="4318000" y="1701800"/>
            <a:ext cx="317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AVALIACOES GOOGLE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FB1E91-3A92-532D-59E5-7AA9CDB3DD0D}"/>
              </a:ext>
            </a:extLst>
          </p:cNvPr>
          <p:cNvSpPr txBox="1"/>
          <p:nvPr/>
        </p:nvSpPr>
        <p:spPr>
          <a:xfrm>
            <a:off x="4318000" y="1905000"/>
            <a:ext cx="3175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Segoe UI" panose="020B0502040204020203" pitchFamily="34" charset="0"/>
              </a:rPr>
              <a:t>943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4AD6486-CA28-B27D-DFEC-03AEE2B0B34B}"/>
              </a:ext>
            </a:extLst>
          </p:cNvPr>
          <p:cNvSpPr txBox="1"/>
          <p:nvPr/>
        </p:nvSpPr>
        <p:spPr>
          <a:xfrm>
            <a:off x="4318000" y="23114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>
                <a:solidFill>
                  <a:srgbClr val="555555"/>
                </a:solidFill>
                <a:latin typeface="Segoe UI" panose="020B0502040204020203" pitchFamily="34" charset="0"/>
              </a:rPr>
              <a:t>4.6 - acima da media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E69EDCA-0703-88B9-4647-BA97B7CED849}"/>
              </a:ext>
            </a:extLst>
          </p:cNvPr>
          <p:cNvSpPr/>
          <p:nvPr/>
        </p:nvSpPr>
        <p:spPr>
          <a:xfrm>
            <a:off x="7721600" y="1600200"/>
            <a:ext cx="3378200" cy="9144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7DB1DD-C515-5D55-4485-120AEF222B8D}"/>
              </a:ext>
            </a:extLst>
          </p:cNvPr>
          <p:cNvSpPr txBox="1"/>
          <p:nvPr/>
        </p:nvSpPr>
        <p:spPr>
          <a:xfrm>
            <a:off x="7823200" y="1701800"/>
            <a:ext cx="317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RESPOSTAS REVIEWS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4A6D234-CDF2-25F7-C076-FA6660D1D07C}"/>
              </a:ext>
            </a:extLst>
          </p:cNvPr>
          <p:cNvSpPr txBox="1"/>
          <p:nvPr/>
        </p:nvSpPr>
        <p:spPr>
          <a:xfrm>
            <a:off x="7823200" y="1905000"/>
            <a:ext cx="3175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400" b="1">
                <a:solidFill>
                  <a:srgbClr val="E31B23"/>
                </a:solidFill>
                <a:latin typeface="Segoe UI" panose="020B0502040204020203" pitchFamily="34" charset="0"/>
              </a:rPr>
              <a:t>0%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196B127-A802-D004-89F3-9418B9AFF171}"/>
              </a:ext>
            </a:extLst>
          </p:cNvPr>
          <p:cNvSpPr txBox="1"/>
          <p:nvPr/>
        </p:nvSpPr>
        <p:spPr>
          <a:xfrm>
            <a:off x="7823200" y="23114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>
                <a:solidFill>
                  <a:srgbClr val="555555"/>
                </a:solidFill>
                <a:latin typeface="Segoe UI" panose="020B0502040204020203" pitchFamily="34" charset="0"/>
              </a:rPr>
              <a:t>reputacao sem gestao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3875350-8D73-564E-08DA-D14093E57F5B}"/>
              </a:ext>
            </a:extLst>
          </p:cNvPr>
          <p:cNvSpPr/>
          <p:nvPr/>
        </p:nvSpPr>
        <p:spPr>
          <a:xfrm>
            <a:off x="711200" y="2692400"/>
            <a:ext cx="10769600" cy="254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F17AFB-0449-401A-9A86-C7700E3FA213}"/>
              </a:ext>
            </a:extLst>
          </p:cNvPr>
          <p:cNvSpPr txBox="1"/>
          <p:nvPr/>
        </p:nvSpPr>
        <p:spPr>
          <a:xfrm>
            <a:off x="711200" y="2743200"/>
            <a:ext cx="381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#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95EBBD-8DE1-B522-0E7F-3D4998ABDAD0}"/>
              </a:ext>
            </a:extLst>
          </p:cNvPr>
          <p:cNvSpPr txBox="1"/>
          <p:nvPr/>
        </p:nvSpPr>
        <p:spPr>
          <a:xfrm>
            <a:off x="1168400" y="2743200"/>
            <a:ext cx="7112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PONTO CRITICO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0F7B25C-2233-0FCB-C7B6-796C84D9FBF0}"/>
              </a:ext>
            </a:extLst>
          </p:cNvPr>
          <p:cNvSpPr txBox="1"/>
          <p:nvPr/>
        </p:nvSpPr>
        <p:spPr>
          <a:xfrm>
            <a:off x="8585200" y="27432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IMPACTO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82C8E8B-DC96-7CFE-1849-20D10D386C19}"/>
              </a:ext>
            </a:extLst>
          </p:cNvPr>
          <p:cNvSpPr/>
          <p:nvPr/>
        </p:nvSpPr>
        <p:spPr>
          <a:xfrm>
            <a:off x="762000" y="31242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33B1F34-9C8F-FEB4-1B19-CE0259092CB1}"/>
              </a:ext>
            </a:extLst>
          </p:cNvPr>
          <p:cNvSpPr txBox="1"/>
          <p:nvPr/>
        </p:nvSpPr>
        <p:spPr>
          <a:xfrm>
            <a:off x="1168400" y="30734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Sem site - zero presenca organica no Google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8E08FE0-A185-10B1-A1E1-7AFA29699F26}"/>
              </a:ext>
            </a:extLst>
          </p:cNvPr>
          <p:cNvSpPr txBox="1"/>
          <p:nvPr/>
        </p:nvSpPr>
        <p:spPr>
          <a:xfrm>
            <a:off x="8585200" y="30734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Invisibilidade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60F434D-4824-237B-1032-7D58A00BB01B}"/>
              </a:ext>
            </a:extLst>
          </p:cNvPr>
          <p:cNvSpPr/>
          <p:nvPr/>
        </p:nvSpPr>
        <p:spPr>
          <a:xfrm>
            <a:off x="711200" y="34036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E7611BD-3417-4A81-0774-318F009DBA2C}"/>
              </a:ext>
            </a:extLst>
          </p:cNvPr>
          <p:cNvSpPr/>
          <p:nvPr/>
        </p:nvSpPr>
        <p:spPr>
          <a:xfrm>
            <a:off x="762000" y="34671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C343AA3-DAC9-C81F-4497-2B444B1A5DB8}"/>
              </a:ext>
            </a:extLst>
          </p:cNvPr>
          <p:cNvSpPr txBox="1"/>
          <p:nvPr/>
        </p:nvSpPr>
        <p:spPr>
          <a:xfrm>
            <a:off x="1168400" y="34163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Zero respostas a 943 avaliacoes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EFEBBB8-2D84-2102-B227-42DC2863630B}"/>
              </a:ext>
            </a:extLst>
          </p:cNvPr>
          <p:cNvSpPr txBox="1"/>
          <p:nvPr/>
        </p:nvSpPr>
        <p:spPr>
          <a:xfrm>
            <a:off x="8585200" y="34163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Confianca reduzida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7595794-FF45-DAD0-3E06-5B6B11E6E9EF}"/>
              </a:ext>
            </a:extLst>
          </p:cNvPr>
          <p:cNvSpPr/>
          <p:nvPr/>
        </p:nvSpPr>
        <p:spPr>
          <a:xfrm>
            <a:off x="711200" y="37465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3347221A-BBE9-137B-F75F-8E921A13EE2B}"/>
              </a:ext>
            </a:extLst>
          </p:cNvPr>
          <p:cNvSpPr/>
          <p:nvPr/>
        </p:nvSpPr>
        <p:spPr>
          <a:xfrm>
            <a:off x="762000" y="38100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59F9CFF-E334-3C06-4848-9CCB3565D191}"/>
              </a:ext>
            </a:extLst>
          </p:cNvPr>
          <p:cNvSpPr txBox="1"/>
          <p:nvPr/>
        </p:nvSpPr>
        <p:spPr>
          <a:xfrm>
            <a:off x="1168400" y="37592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Descricao GBP ausente - nao indexa keywords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95B1052-FA05-71AA-8F31-EDFE952D3E47}"/>
              </a:ext>
            </a:extLst>
          </p:cNvPr>
          <p:cNvSpPr txBox="1"/>
          <p:nvPr/>
        </p:nvSpPr>
        <p:spPr>
          <a:xfrm>
            <a:off x="8585200" y="37592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SEO comprometido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DE055A6-B41F-7F51-019F-7F0F1B9C317D}"/>
              </a:ext>
            </a:extLst>
          </p:cNvPr>
          <p:cNvSpPr/>
          <p:nvPr/>
        </p:nvSpPr>
        <p:spPr>
          <a:xfrm>
            <a:off x="711200" y="4089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E2491013-E460-4D31-9F35-ED6244CEADDA}"/>
              </a:ext>
            </a:extLst>
          </p:cNvPr>
          <p:cNvSpPr/>
          <p:nvPr/>
        </p:nvSpPr>
        <p:spPr>
          <a:xfrm>
            <a:off x="762000" y="41529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180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AB308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5B8A393-74C7-EEB2-8C77-C59708880CD4}"/>
              </a:ext>
            </a:extLst>
          </p:cNvPr>
          <p:cNvSpPr txBox="1"/>
          <p:nvPr/>
        </p:nvSpPr>
        <p:spPr>
          <a:xfrm>
            <a:off x="1168400" y="41021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Zero Google Posts - promocoes invisiveis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14AEE30-26CA-0DF1-ADBB-274917AC34F8}"/>
              </a:ext>
            </a:extLst>
          </p:cNvPr>
          <p:cNvSpPr txBox="1"/>
          <p:nvPr/>
        </p:nvSpPr>
        <p:spPr>
          <a:xfrm>
            <a:off x="8585200" y="41021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AB308"/>
                </a:solidFill>
                <a:latin typeface="Segoe UI" panose="020B0502040204020203" pitchFamily="34" charset="0"/>
              </a:rPr>
              <a:t>Engajamento perdido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1427B29-19E6-9894-C271-4F615FE2EF4D}"/>
              </a:ext>
            </a:extLst>
          </p:cNvPr>
          <p:cNvSpPr/>
          <p:nvPr/>
        </p:nvSpPr>
        <p:spPr>
          <a:xfrm>
            <a:off x="711200" y="44323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CD57C982-C0D1-A0BF-5B18-3FAFD403D244}"/>
              </a:ext>
            </a:extLst>
          </p:cNvPr>
          <p:cNvSpPr/>
          <p:nvPr/>
        </p:nvSpPr>
        <p:spPr>
          <a:xfrm>
            <a:off x="762000" y="44958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180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AB308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11782DE-B313-0800-81C6-E070FC9358F8}"/>
              </a:ext>
            </a:extLst>
          </p:cNvPr>
          <p:cNvSpPr txBox="1"/>
          <p:nvPr/>
        </p:nvSpPr>
        <p:spPr>
          <a:xfrm>
            <a:off x="1168400" y="44450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Instagram sem funil - 42K sem conversao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25F13E-5CAF-FC2C-10AC-05D56E249322}"/>
              </a:ext>
            </a:extLst>
          </p:cNvPr>
          <p:cNvSpPr txBox="1"/>
          <p:nvPr/>
        </p:nvSpPr>
        <p:spPr>
          <a:xfrm>
            <a:off x="8585200" y="44450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AB308"/>
                </a:solidFill>
                <a:latin typeface="Segoe UI" panose="020B0502040204020203" pitchFamily="34" charset="0"/>
              </a:rPr>
              <a:t>Potencial desperdicado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432EBB0-6C5B-EB20-C178-FDC79CBF1F10}"/>
              </a:ext>
            </a:extLst>
          </p:cNvPr>
          <p:cNvSpPr/>
          <p:nvPr/>
        </p:nvSpPr>
        <p:spPr>
          <a:xfrm>
            <a:off x="711200" y="47752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6F0F692-6792-D711-A91E-1845BA0C2522}"/>
              </a:ext>
            </a:extLst>
          </p:cNvPr>
          <p:cNvSpPr/>
          <p:nvPr/>
        </p:nvSpPr>
        <p:spPr>
          <a:xfrm>
            <a:off x="711200" y="4864100"/>
            <a:ext cx="10769600" cy="660400"/>
          </a:xfrm>
          <a:prstGeom prst="roundRect">
            <a:avLst>
              <a:gd name="adj" fmla="val 4000"/>
            </a:avLst>
          </a:prstGeom>
          <a:solidFill>
            <a:srgbClr val="E31B23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752AB3FA-BFB1-C956-2102-430E72308FD9}"/>
              </a:ext>
            </a:extLst>
          </p:cNvPr>
          <p:cNvSpPr/>
          <p:nvPr/>
        </p:nvSpPr>
        <p:spPr>
          <a:xfrm>
            <a:off x="711200" y="4864100"/>
            <a:ext cx="38100" cy="6604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7E5F29B-F9D8-7310-81FD-70DF2CDFBE1F}"/>
              </a:ext>
            </a:extLst>
          </p:cNvPr>
          <p:cNvSpPr txBox="1"/>
          <p:nvPr/>
        </p:nvSpPr>
        <p:spPr>
          <a:xfrm>
            <a:off x="889000" y="49149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O Terra e uma Ferrari sem combustivel.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E11661B-BF9D-AC58-85A7-AE7B1286A366}"/>
              </a:ext>
            </a:extLst>
          </p:cNvPr>
          <p:cNvSpPr txBox="1"/>
          <p:nvPr/>
        </p:nvSpPr>
        <p:spPr>
          <a:xfrm>
            <a:off x="889000" y="5143500"/>
            <a:ext cx="1041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42K seguidores, 943 reviews 4.6, Entrecot como destaque, Espaco Kids - ativos unicos. Falta a infraestrutura digital.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A8FCCA31-FAC8-DE88-2C17-E7DF6E3D5C24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488F488-F923-6DEE-09D4-7141C5617AAD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E8D031F-A745-EB94-471E-BE36C2117206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4</a:t>
            </a:r>
          </a:p>
        </p:txBody>
      </p:sp>
    </p:spTree>
    <p:extLst>
      <p:ext uri="{BB962C8B-B14F-4D97-AF65-F5344CB8AC3E}">
        <p14:creationId xmlns:p14="http://schemas.microsoft.com/office/powerpoint/2010/main" val="327709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02ACB077-13EC-2751-6B20-9B096D81D609}"/>
              </a:ext>
            </a:extLst>
          </p:cNvPr>
          <p:cNvSpPr/>
          <p:nvPr/>
        </p:nvSpPr>
        <p:spPr>
          <a:xfrm>
            <a:off x="-635000" y="5334000"/>
            <a:ext cx="2032000" cy="2032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FA88D4-39CA-ECE2-AAF8-49EA247A6A92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DIAGNOSTICO - ESTANCIA CHURRASCARIA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40B062-B4CF-5290-EB74-D36954E0C4B8}"/>
              </a:ext>
            </a:extLst>
          </p:cNvPr>
          <p:cNvSpPr txBox="1"/>
          <p:nvPr/>
        </p:nvSpPr>
        <p:spPr>
          <a:xfrm>
            <a:off x="711200" y="7112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E31B23"/>
                </a:solidFill>
                <a:latin typeface="Segoe UI" panose="020B0502040204020203" pitchFamily="34" charset="0"/>
              </a:rPr>
              <a:t>6 pontos criticos - acao necessaria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242DF9-00E5-E3C7-B4DD-473C846A4C92}"/>
              </a:ext>
            </a:extLst>
          </p:cNvPr>
          <p:cNvSpPr txBox="1"/>
          <p:nvPr/>
        </p:nvSpPr>
        <p:spPr>
          <a:xfrm>
            <a:off x="711200" y="12192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Presenca digital inexistente. Cada dia sem posicionamento fortalece a concorrencia.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FD7145F-75E6-888C-4259-BD1F8CBB98C9}"/>
              </a:ext>
            </a:extLst>
          </p:cNvPr>
          <p:cNvSpPr/>
          <p:nvPr/>
        </p:nvSpPr>
        <p:spPr>
          <a:xfrm>
            <a:off x="711200" y="1600200"/>
            <a:ext cx="3378200" cy="9144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E35B52-3A22-EFDF-08A4-4882AB05F34E}"/>
              </a:ext>
            </a:extLst>
          </p:cNvPr>
          <p:cNvSpPr txBox="1"/>
          <p:nvPr/>
        </p:nvSpPr>
        <p:spPr>
          <a:xfrm>
            <a:off x="812800" y="1701800"/>
            <a:ext cx="317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GOOGLE REVIEWS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FB5B77-C42C-86A8-E9BB-8413E2720C10}"/>
              </a:ext>
            </a:extLst>
          </p:cNvPr>
          <p:cNvSpPr txBox="1"/>
          <p:nvPr/>
        </p:nvSpPr>
        <p:spPr>
          <a:xfrm>
            <a:off x="812800" y="1905000"/>
            <a:ext cx="3175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400" b="1">
                <a:solidFill>
                  <a:srgbClr val="E31B23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A9522B-2A1F-F441-995D-1D2569EF3FF6}"/>
              </a:ext>
            </a:extLst>
          </p:cNvPr>
          <p:cNvSpPr txBox="1"/>
          <p:nvPr/>
        </p:nvSpPr>
        <p:spPr>
          <a:xfrm>
            <a:off x="812800" y="23114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>
                <a:solidFill>
                  <a:srgbClr val="555555"/>
                </a:solidFill>
                <a:latin typeface="Segoe UI" panose="020B0502040204020203" pitchFamily="34" charset="0"/>
              </a:rPr>
              <a:t>minimo credivel: 50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19AB672-6B1B-821E-40F3-F04D5FDF1CC7}"/>
              </a:ext>
            </a:extLst>
          </p:cNvPr>
          <p:cNvSpPr/>
          <p:nvPr/>
        </p:nvSpPr>
        <p:spPr>
          <a:xfrm>
            <a:off x="4216400" y="1600200"/>
            <a:ext cx="3378200" cy="9144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69AB26-C57C-AF1B-03DC-796B9C773EC2}"/>
              </a:ext>
            </a:extLst>
          </p:cNvPr>
          <p:cNvSpPr txBox="1"/>
          <p:nvPr/>
        </p:nvSpPr>
        <p:spPr>
          <a:xfrm>
            <a:off x="4318000" y="1701800"/>
            <a:ext cx="317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NOTA GOOGLE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9EF14A6-E3A1-8C2E-722E-6ADDFE70BC74}"/>
              </a:ext>
            </a:extLst>
          </p:cNvPr>
          <p:cNvSpPr txBox="1"/>
          <p:nvPr/>
        </p:nvSpPr>
        <p:spPr>
          <a:xfrm>
            <a:off x="4318000" y="1905000"/>
            <a:ext cx="3175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400" b="1">
                <a:solidFill>
                  <a:srgbClr val="E31B23"/>
                </a:solidFill>
                <a:latin typeface="Segoe UI" panose="020B0502040204020203" pitchFamily="34" charset="0"/>
              </a:rPr>
              <a:t>3.6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A35A02-697C-CEEC-A8A3-D7FBF6E49446}"/>
              </a:ext>
            </a:extLst>
          </p:cNvPr>
          <p:cNvSpPr txBox="1"/>
          <p:nvPr/>
        </p:nvSpPr>
        <p:spPr>
          <a:xfrm>
            <a:off x="4318000" y="23114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>
                <a:solidFill>
                  <a:srgbClr val="555555"/>
                </a:solidFill>
                <a:latin typeface="Segoe UI" panose="020B0502040204020203" pitchFamily="34" charset="0"/>
              </a:rPr>
              <a:t>abaixo do limite (4.0)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0782E48-0439-25FD-4ABE-DF09E909D2B6}"/>
              </a:ext>
            </a:extLst>
          </p:cNvPr>
          <p:cNvSpPr/>
          <p:nvPr/>
        </p:nvSpPr>
        <p:spPr>
          <a:xfrm>
            <a:off x="7721600" y="1600200"/>
            <a:ext cx="3378200" cy="9144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11B1459-5615-122D-318D-C287AA30DCEC}"/>
              </a:ext>
            </a:extLst>
          </p:cNvPr>
          <p:cNvSpPr txBox="1"/>
          <p:nvPr/>
        </p:nvSpPr>
        <p:spPr>
          <a:xfrm>
            <a:off x="7823200" y="1701800"/>
            <a:ext cx="317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POSTS INSTAGRAM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4B6B35-F84D-8AEA-4C0B-7E190E45E909}"/>
              </a:ext>
            </a:extLst>
          </p:cNvPr>
          <p:cNvSpPr txBox="1"/>
          <p:nvPr/>
        </p:nvSpPr>
        <p:spPr>
          <a:xfrm>
            <a:off x="7823200" y="1905000"/>
            <a:ext cx="3175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400" b="1">
                <a:solidFill>
                  <a:srgbClr val="E31B23"/>
                </a:solidFill>
                <a:latin typeface="Segoe UI" panose="020B0502040204020203" pitchFamily="34" charset="0"/>
              </a:rPr>
              <a:t>15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7467B31-D291-9E67-7FEC-A789B19DF111}"/>
              </a:ext>
            </a:extLst>
          </p:cNvPr>
          <p:cNvSpPr txBox="1"/>
          <p:nvPr/>
        </p:nvSpPr>
        <p:spPr>
          <a:xfrm>
            <a:off x="7823200" y="23114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>
                <a:solidFill>
                  <a:srgbClr val="555555"/>
                </a:solidFill>
                <a:latin typeface="Segoe UI" panose="020B0502040204020203" pitchFamily="34" charset="0"/>
              </a:rPr>
              <a:t>perfil inativo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789F919-73DF-B1AC-EC39-D24BBB8C9A11}"/>
              </a:ext>
            </a:extLst>
          </p:cNvPr>
          <p:cNvSpPr/>
          <p:nvPr/>
        </p:nvSpPr>
        <p:spPr>
          <a:xfrm>
            <a:off x="711200" y="2692400"/>
            <a:ext cx="10769600" cy="254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D10B953-8057-B721-55F7-81CD723E326F}"/>
              </a:ext>
            </a:extLst>
          </p:cNvPr>
          <p:cNvSpPr txBox="1"/>
          <p:nvPr/>
        </p:nvSpPr>
        <p:spPr>
          <a:xfrm>
            <a:off x="711200" y="2743200"/>
            <a:ext cx="381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#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DE764A9-185C-0E27-8EA6-29D34BD93A1A}"/>
              </a:ext>
            </a:extLst>
          </p:cNvPr>
          <p:cNvSpPr txBox="1"/>
          <p:nvPr/>
        </p:nvSpPr>
        <p:spPr>
          <a:xfrm>
            <a:off x="1168400" y="2743200"/>
            <a:ext cx="7112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PONTO CRITICO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B9D39BE-40F2-6B14-1022-0383216C555A}"/>
              </a:ext>
            </a:extLst>
          </p:cNvPr>
          <p:cNvSpPr txBox="1"/>
          <p:nvPr/>
        </p:nvSpPr>
        <p:spPr>
          <a:xfrm>
            <a:off x="8585200" y="27432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IMPACTO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30928A7-E599-3BA8-A459-06BD8F201778}"/>
              </a:ext>
            </a:extLst>
          </p:cNvPr>
          <p:cNvSpPr/>
          <p:nvPr/>
        </p:nvSpPr>
        <p:spPr>
          <a:xfrm>
            <a:off x="762000" y="31242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418A0CA-5841-6D10-A314-4EF23C6BF5C6}"/>
              </a:ext>
            </a:extLst>
          </p:cNvPr>
          <p:cNvSpPr txBox="1"/>
          <p:nvPr/>
        </p:nvSpPr>
        <p:spPr>
          <a:xfrm>
            <a:off x="1168400" y="30734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GBP nao reivindicado - zero controle do perfil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2EC0741-9485-68C1-A53B-9AD21F71EFD2}"/>
              </a:ext>
            </a:extLst>
          </p:cNvPr>
          <p:cNvSpPr txBox="1"/>
          <p:nvPr/>
        </p:nvSpPr>
        <p:spPr>
          <a:xfrm>
            <a:off x="8585200" y="30734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Vulneravel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9EAB617-C22F-D823-FAC5-47519FBF4236}"/>
              </a:ext>
            </a:extLst>
          </p:cNvPr>
          <p:cNvSpPr/>
          <p:nvPr/>
        </p:nvSpPr>
        <p:spPr>
          <a:xfrm>
            <a:off x="711200" y="34036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68AF5BC-7A23-A27E-757B-84DD61B247FA}"/>
              </a:ext>
            </a:extLst>
          </p:cNvPr>
          <p:cNvSpPr/>
          <p:nvPr/>
        </p:nvSpPr>
        <p:spPr>
          <a:xfrm>
            <a:off x="762000" y="34671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AA8DDD5-6370-EA2C-7541-AF39CBBD3AD9}"/>
              </a:ext>
            </a:extLst>
          </p:cNvPr>
          <p:cNvSpPr txBox="1"/>
          <p:nvPr/>
        </p:nvSpPr>
        <p:spPr>
          <a:xfrm>
            <a:off x="1168400" y="34163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Telefone ausente - impossivel ligar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D028C1E-742B-B153-5626-16FFAF091BF9}"/>
              </a:ext>
            </a:extLst>
          </p:cNvPr>
          <p:cNvSpPr txBox="1"/>
          <p:nvPr/>
        </p:nvSpPr>
        <p:spPr>
          <a:xfrm>
            <a:off x="8585200" y="34163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Zero conversao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37836D0-9969-0C1F-CA2F-B16026A6D488}"/>
              </a:ext>
            </a:extLst>
          </p:cNvPr>
          <p:cNvSpPr/>
          <p:nvPr/>
        </p:nvSpPr>
        <p:spPr>
          <a:xfrm>
            <a:off x="711200" y="37465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53225A8-CA6D-AB2A-A91E-E6A8482594E5}"/>
              </a:ext>
            </a:extLst>
          </p:cNvPr>
          <p:cNvSpPr/>
          <p:nvPr/>
        </p:nvSpPr>
        <p:spPr>
          <a:xfrm>
            <a:off x="762000" y="38100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75549EC-7A9D-0179-4C5B-292A2C1F5E3A}"/>
              </a:ext>
            </a:extLst>
          </p:cNvPr>
          <p:cNvSpPr txBox="1"/>
          <p:nvPr/>
        </p:nvSpPr>
        <p:spPr>
          <a:xfrm>
            <a:off x="1168400" y="37592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Sem site - zero presenca organica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2069069-F494-25E3-BA48-088FA731BEF0}"/>
              </a:ext>
            </a:extLst>
          </p:cNvPr>
          <p:cNvSpPr txBox="1"/>
          <p:nvPr/>
        </p:nvSpPr>
        <p:spPr>
          <a:xfrm>
            <a:off x="8585200" y="37592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Invisibilidade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C764AED-068B-CB12-92F3-E545CDB474A2}"/>
              </a:ext>
            </a:extLst>
          </p:cNvPr>
          <p:cNvSpPr/>
          <p:nvPr/>
        </p:nvSpPr>
        <p:spPr>
          <a:xfrm>
            <a:off x="711200" y="4089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DBBAA39-D6D1-BD05-AA8C-1AB853C75735}"/>
              </a:ext>
            </a:extLst>
          </p:cNvPr>
          <p:cNvSpPr/>
          <p:nvPr/>
        </p:nvSpPr>
        <p:spPr>
          <a:xfrm>
            <a:off x="762000" y="41529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5B2834C-D053-4FB1-558A-7ED0AD548529}"/>
              </a:ext>
            </a:extLst>
          </p:cNvPr>
          <p:cNvSpPr txBox="1"/>
          <p:nvPr/>
        </p:nvSpPr>
        <p:spPr>
          <a:xfrm>
            <a:off x="1168400" y="41021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Nota 3.6 / 21 reviews - baixa credibilidade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78DEA6A-0F7C-9A29-5231-E439ABE60E49}"/>
              </a:ext>
            </a:extLst>
          </p:cNvPr>
          <p:cNvSpPr txBox="1"/>
          <p:nvPr/>
        </p:nvSpPr>
        <p:spPr>
          <a:xfrm>
            <a:off x="8585200" y="41021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Perda de cliques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6D0C3710-6124-E180-A198-078EFE3D18E9}"/>
              </a:ext>
            </a:extLst>
          </p:cNvPr>
          <p:cNvSpPr/>
          <p:nvPr/>
        </p:nvSpPr>
        <p:spPr>
          <a:xfrm>
            <a:off x="711200" y="44323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64BE67E3-6EEC-C0C3-66A5-429DA51283B1}"/>
              </a:ext>
            </a:extLst>
          </p:cNvPr>
          <p:cNvSpPr/>
          <p:nvPr/>
        </p:nvSpPr>
        <p:spPr>
          <a:xfrm>
            <a:off x="762000" y="44958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08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D51794F-C67A-40E5-F49F-A74C38F203E4}"/>
              </a:ext>
            </a:extLst>
          </p:cNvPr>
          <p:cNvSpPr txBox="1"/>
          <p:nvPr/>
        </p:nvSpPr>
        <p:spPr>
          <a:xfrm>
            <a:off x="1168400" y="44450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Instagram inativo - 15 posts desperdicados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E5A8E34-0022-E7D5-A268-310B63A8C700}"/>
              </a:ext>
            </a:extLst>
          </p:cNvPr>
          <p:cNvSpPr txBox="1"/>
          <p:nvPr/>
        </p:nvSpPr>
        <p:spPr>
          <a:xfrm>
            <a:off x="8585200" y="44450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Potencial perdido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7DF24867-DC6C-5404-21BF-3FD71BB155EF}"/>
              </a:ext>
            </a:extLst>
          </p:cNvPr>
          <p:cNvSpPr/>
          <p:nvPr/>
        </p:nvSpPr>
        <p:spPr>
          <a:xfrm>
            <a:off x="711200" y="47752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BAF7F7C8-B4BD-348A-C0DA-B6AD521BFE9F}"/>
              </a:ext>
            </a:extLst>
          </p:cNvPr>
          <p:cNvSpPr/>
          <p:nvPr/>
        </p:nvSpPr>
        <p:spPr>
          <a:xfrm>
            <a:off x="762000" y="4838700"/>
            <a:ext cx="279400" cy="203200"/>
          </a:xfrm>
          <a:prstGeom prst="roundRect">
            <a:avLst>
              <a:gd name="adj" fmla="val 4000"/>
            </a:avLst>
          </a:prstGeom>
          <a:solidFill>
            <a:srgbClr val="1E180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EAB308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AA33A08-5BAD-BF25-F05C-CBDFC13A9799}"/>
              </a:ext>
            </a:extLst>
          </p:cNvPr>
          <p:cNvSpPr txBox="1"/>
          <p:nvPr/>
        </p:nvSpPr>
        <p:spPr>
          <a:xfrm>
            <a:off x="1168400" y="47879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Zero fotos profissionais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7963837-060E-B320-F44A-11F7D1E8D084}"/>
              </a:ext>
            </a:extLst>
          </p:cNvPr>
          <p:cNvSpPr txBox="1"/>
          <p:nvPr/>
        </p:nvSpPr>
        <p:spPr>
          <a:xfrm>
            <a:off x="8585200" y="47879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EAB308"/>
                </a:solidFill>
                <a:latin typeface="Segoe UI" panose="020B0502040204020203" pitchFamily="34" charset="0"/>
              </a:rPr>
              <a:t>Baixa atratividade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3205941-D964-1CB4-C1C7-59081B696500}"/>
              </a:ext>
            </a:extLst>
          </p:cNvPr>
          <p:cNvSpPr/>
          <p:nvPr/>
        </p:nvSpPr>
        <p:spPr>
          <a:xfrm>
            <a:off x="711200" y="51181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054452B6-3E71-A120-F13A-3649A5C2B0D4}"/>
              </a:ext>
            </a:extLst>
          </p:cNvPr>
          <p:cNvSpPr/>
          <p:nvPr/>
        </p:nvSpPr>
        <p:spPr>
          <a:xfrm>
            <a:off x="711200" y="5181600"/>
            <a:ext cx="10769600" cy="584200"/>
          </a:xfrm>
          <a:prstGeom prst="roundRect">
            <a:avLst>
              <a:gd name="adj" fmla="val 4000"/>
            </a:avLst>
          </a:prstGeom>
          <a:solidFill>
            <a:srgbClr val="E31B23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96104CB3-814C-9DF8-325F-20112A78A61E}"/>
              </a:ext>
            </a:extLst>
          </p:cNvPr>
          <p:cNvSpPr/>
          <p:nvPr/>
        </p:nvSpPr>
        <p:spPr>
          <a:xfrm>
            <a:off x="711200" y="5181600"/>
            <a:ext cx="38100" cy="5842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264EC9E-43E4-48F5-88CD-E7037C539605}"/>
              </a:ext>
            </a:extLst>
          </p:cNvPr>
          <p:cNvSpPr txBox="1"/>
          <p:nvPr/>
        </p:nvSpPr>
        <p:spPr>
          <a:xfrm>
            <a:off x="889000" y="52324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O unico botao funcional no Google e "Como chegar".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2CCD2BA-C6C8-DB9C-7AA8-A90A119647FE}"/>
              </a:ext>
            </a:extLst>
          </p:cNvPr>
          <p:cNvSpPr txBox="1"/>
          <p:nvPr/>
        </p:nvSpPr>
        <p:spPr>
          <a:xfrm>
            <a:off x="889000" y="5461000"/>
            <a:ext cx="1041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Nao da para ligar, ver cardapio, reservar ou acessar o site.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9025C173-3793-2858-518B-5E2AED098006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AB6D3ED-35AD-697F-3AE4-8742ABA8C3F6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3BC35254-43EC-7E1D-B9E2-48B63A61E9E5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5</a:t>
            </a:r>
          </a:p>
        </p:txBody>
      </p:sp>
    </p:spTree>
    <p:extLst>
      <p:ext uri="{BB962C8B-B14F-4D97-AF65-F5344CB8AC3E}">
        <p14:creationId xmlns:p14="http://schemas.microsoft.com/office/powerpoint/2010/main" val="314899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0D82EB1D-DF13-4D94-3AD0-30126835E058}"/>
              </a:ext>
            </a:extLst>
          </p:cNvPr>
          <p:cNvSpPr/>
          <p:nvPr/>
        </p:nvSpPr>
        <p:spPr>
          <a:xfrm>
            <a:off x="10668000" y="-635000"/>
            <a:ext cx="2540000" cy="2540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5C39AF-D957-EA7D-F435-764EC75B4045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ANALISE COMPETITIVA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B824F0-DBEB-332F-C47E-EA542071A189}"/>
              </a:ext>
            </a:extLst>
          </p:cNvPr>
          <p:cNvSpPr txBox="1"/>
          <p:nvPr/>
        </p:nvSpPr>
        <p:spPr>
          <a:xfrm>
            <a:off x="711200" y="7112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Segoe UI" panose="020B0502040204020203" pitchFamily="34" charset="0"/>
              </a:rPr>
              <a:t>Os 3 primeiros do Maps capturam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F60DA4-588B-99C2-5899-A2DC9F6399DC}"/>
              </a:ext>
            </a:extLst>
          </p:cNvPr>
          <p:cNvSpPr txBox="1"/>
          <p:nvPr/>
        </p:nvSpPr>
        <p:spPr>
          <a:xfrm>
            <a:off x="711200" y="11176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E31B23"/>
                </a:solidFill>
                <a:latin typeface="Segoe UI" panose="020B0502040204020203" pitchFamily="34" charset="0"/>
              </a:rPr>
              <a:t>75% dos cliques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073406-C565-CC98-3453-3EC885118D28}"/>
              </a:ext>
            </a:extLst>
          </p:cNvPr>
          <p:cNvSpPr txBox="1"/>
          <p:nvPr/>
        </p:nvSpPr>
        <p:spPr>
          <a:xfrm>
            <a:off x="711200" y="16256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Enquanto seus restaurantes ficam fora do radar, a concorrencia consolida posicao.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3ADBE51-096B-C84B-DD86-4E2E9B7677C2}"/>
              </a:ext>
            </a:extLst>
          </p:cNvPr>
          <p:cNvSpPr/>
          <p:nvPr/>
        </p:nvSpPr>
        <p:spPr>
          <a:xfrm>
            <a:off x="711200" y="2006600"/>
            <a:ext cx="10769600" cy="254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B1E3D3-7001-9B08-543E-AF8B57703626}"/>
              </a:ext>
            </a:extLst>
          </p:cNvPr>
          <p:cNvSpPr txBox="1"/>
          <p:nvPr/>
        </p:nvSpPr>
        <p:spPr>
          <a:xfrm>
            <a:off x="711200" y="2057400"/>
            <a:ext cx="2794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RESTAURANTE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86B01AE-FB67-E827-A2B4-966C262C9887}"/>
              </a:ext>
            </a:extLst>
          </p:cNvPr>
          <p:cNvSpPr txBox="1"/>
          <p:nvPr/>
        </p:nvSpPr>
        <p:spPr>
          <a:xfrm>
            <a:off x="3505200" y="2057400"/>
            <a:ext cx="1016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NOTA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05FC0FE-5612-7548-6FDB-D1CFDA3FA9F8}"/>
              </a:ext>
            </a:extLst>
          </p:cNvPr>
          <p:cNvSpPr txBox="1"/>
          <p:nvPr/>
        </p:nvSpPr>
        <p:spPr>
          <a:xfrm>
            <a:off x="4521200" y="2057400"/>
            <a:ext cx="1270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REVIEWS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A8FAF23-FF37-6C45-A0E1-D09AD0A663EB}"/>
              </a:ext>
            </a:extLst>
          </p:cNvPr>
          <p:cNvSpPr txBox="1"/>
          <p:nvPr/>
        </p:nvSpPr>
        <p:spPr>
          <a:xfrm>
            <a:off x="5791200" y="2057400"/>
            <a:ext cx="1016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SITE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72E3B2-50E2-11D7-7603-C3EAF4A1828C}"/>
              </a:ext>
            </a:extLst>
          </p:cNvPr>
          <p:cNvSpPr txBox="1"/>
          <p:nvPr/>
        </p:nvSpPr>
        <p:spPr>
          <a:xfrm>
            <a:off x="6807200" y="2057400"/>
            <a:ext cx="1270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GBP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6EAA2DB-3FE9-1FDB-453B-2B95FC8D7094}"/>
              </a:ext>
            </a:extLst>
          </p:cNvPr>
          <p:cNvSpPr txBox="1"/>
          <p:nvPr/>
        </p:nvSpPr>
        <p:spPr>
          <a:xfrm>
            <a:off x="8077200" y="2057400"/>
            <a:ext cx="3403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PACK LOCAL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069B3D6-0EE5-F7D3-925C-8576921688E5}"/>
              </a:ext>
            </a:extLst>
          </p:cNvPr>
          <p:cNvSpPr txBox="1"/>
          <p:nvPr/>
        </p:nvSpPr>
        <p:spPr>
          <a:xfrm>
            <a:off x="711200" y="2387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Barranco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FB6181D-7AF9-88D6-57EE-89C55ACFAADF}"/>
              </a:ext>
            </a:extLst>
          </p:cNvPr>
          <p:cNvSpPr txBox="1"/>
          <p:nvPr/>
        </p:nvSpPr>
        <p:spPr>
          <a:xfrm>
            <a:off x="3505200" y="23876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4.5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B8E46AF-63CF-CEBE-C163-0B077F77B3D6}"/>
              </a:ext>
            </a:extLst>
          </p:cNvPr>
          <p:cNvSpPr txBox="1"/>
          <p:nvPr/>
        </p:nvSpPr>
        <p:spPr>
          <a:xfrm>
            <a:off x="4521200" y="23876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5.000+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6985C2F-FCF6-5351-B633-52915C986CA1}"/>
              </a:ext>
            </a:extLst>
          </p:cNvPr>
          <p:cNvSpPr txBox="1"/>
          <p:nvPr/>
        </p:nvSpPr>
        <p:spPr>
          <a:xfrm>
            <a:off x="5791200" y="23876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✓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AC88CF5-D726-E6C0-B33C-DC413665491E}"/>
              </a:ext>
            </a:extLst>
          </p:cNvPr>
          <p:cNvSpPr txBox="1"/>
          <p:nvPr/>
        </p:nvSpPr>
        <p:spPr>
          <a:xfrm>
            <a:off x="6807200" y="23876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✓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8378202-1C45-60BC-A495-D9F95DA06321}"/>
              </a:ext>
            </a:extLst>
          </p:cNvPr>
          <p:cNvSpPr txBox="1"/>
          <p:nvPr/>
        </p:nvSpPr>
        <p:spPr>
          <a:xfrm>
            <a:off x="8077200" y="2387600"/>
            <a:ext cx="34036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#1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B0CC0AB-98E5-B8CD-71E0-B6E34432697D}"/>
              </a:ext>
            </a:extLst>
          </p:cNvPr>
          <p:cNvSpPr/>
          <p:nvPr/>
        </p:nvSpPr>
        <p:spPr>
          <a:xfrm>
            <a:off x="711200" y="27432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1CD9EF2-A1B2-5A8E-B0AA-4B3E95CCD0D9}"/>
              </a:ext>
            </a:extLst>
          </p:cNvPr>
          <p:cNvSpPr txBox="1"/>
          <p:nvPr/>
        </p:nvSpPr>
        <p:spPr>
          <a:xfrm>
            <a:off x="711200" y="2768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Komka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D6BEEA6-27AA-6A5A-51B5-24C8DE603ACD}"/>
              </a:ext>
            </a:extLst>
          </p:cNvPr>
          <p:cNvSpPr txBox="1"/>
          <p:nvPr/>
        </p:nvSpPr>
        <p:spPr>
          <a:xfrm>
            <a:off x="3505200" y="27686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4.7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8B6A26B-A9D7-0719-357A-635AACE86D56}"/>
              </a:ext>
            </a:extLst>
          </p:cNvPr>
          <p:cNvSpPr txBox="1"/>
          <p:nvPr/>
        </p:nvSpPr>
        <p:spPr>
          <a:xfrm>
            <a:off x="4521200" y="27686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3.000+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BAA0783-1C17-EA7B-EA3F-9EA224F71FAD}"/>
              </a:ext>
            </a:extLst>
          </p:cNvPr>
          <p:cNvSpPr txBox="1"/>
          <p:nvPr/>
        </p:nvSpPr>
        <p:spPr>
          <a:xfrm>
            <a:off x="5791200" y="27686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✓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D421EDD-50CF-79AF-4B10-C5296D38FB37}"/>
              </a:ext>
            </a:extLst>
          </p:cNvPr>
          <p:cNvSpPr txBox="1"/>
          <p:nvPr/>
        </p:nvSpPr>
        <p:spPr>
          <a:xfrm>
            <a:off x="6807200" y="27686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✓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50D788E-2A65-C6B8-3515-16CEDA569143}"/>
              </a:ext>
            </a:extLst>
          </p:cNvPr>
          <p:cNvSpPr txBox="1"/>
          <p:nvPr/>
        </p:nvSpPr>
        <p:spPr>
          <a:xfrm>
            <a:off x="8077200" y="2768600"/>
            <a:ext cx="34036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#2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6E8AFD1-2330-679C-5C73-7CD1E6C12D53}"/>
              </a:ext>
            </a:extLst>
          </p:cNvPr>
          <p:cNvSpPr/>
          <p:nvPr/>
        </p:nvSpPr>
        <p:spPr>
          <a:xfrm>
            <a:off x="711200" y="31242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555FDDB-4D1C-E09A-E20A-021E8131D7BB}"/>
              </a:ext>
            </a:extLst>
          </p:cNvPr>
          <p:cNvSpPr txBox="1"/>
          <p:nvPr/>
        </p:nvSpPr>
        <p:spPr>
          <a:xfrm>
            <a:off x="711200" y="3149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Giovanaz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E01DCE2-C14E-0BD8-E830-8111B03306AB}"/>
              </a:ext>
            </a:extLst>
          </p:cNvPr>
          <p:cNvSpPr txBox="1"/>
          <p:nvPr/>
        </p:nvSpPr>
        <p:spPr>
          <a:xfrm>
            <a:off x="3505200" y="31496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4.6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04851C9-C2DB-5D53-0912-641468E3839E}"/>
              </a:ext>
            </a:extLst>
          </p:cNvPr>
          <p:cNvSpPr txBox="1"/>
          <p:nvPr/>
        </p:nvSpPr>
        <p:spPr>
          <a:xfrm>
            <a:off x="4521200" y="31496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2.000+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9F40D55-3AC0-8678-41BD-DFF4FA2109BA}"/>
              </a:ext>
            </a:extLst>
          </p:cNvPr>
          <p:cNvSpPr txBox="1"/>
          <p:nvPr/>
        </p:nvSpPr>
        <p:spPr>
          <a:xfrm>
            <a:off x="5791200" y="31496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✓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0F0BDAB-47E2-2DF1-C17E-8F00417EB7C8}"/>
              </a:ext>
            </a:extLst>
          </p:cNvPr>
          <p:cNvSpPr txBox="1"/>
          <p:nvPr/>
        </p:nvSpPr>
        <p:spPr>
          <a:xfrm>
            <a:off x="6807200" y="31496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✓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93AB295-2EF1-9D5C-085B-139CA487B64B}"/>
              </a:ext>
            </a:extLst>
          </p:cNvPr>
          <p:cNvSpPr txBox="1"/>
          <p:nvPr/>
        </p:nvSpPr>
        <p:spPr>
          <a:xfrm>
            <a:off x="8077200" y="3149600"/>
            <a:ext cx="34036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#3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7539F45-9E07-51C7-F58D-125463124611}"/>
              </a:ext>
            </a:extLst>
          </p:cNvPr>
          <p:cNvSpPr/>
          <p:nvPr/>
        </p:nvSpPr>
        <p:spPr>
          <a:xfrm>
            <a:off x="711200" y="35052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4F6FF648-B2B7-D09F-37F3-31408D76314D}"/>
              </a:ext>
            </a:extLst>
          </p:cNvPr>
          <p:cNvSpPr/>
          <p:nvPr/>
        </p:nvSpPr>
        <p:spPr>
          <a:xfrm>
            <a:off x="711200" y="3530600"/>
            <a:ext cx="10769600" cy="254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18C619A-3F71-CC25-8FBD-5CA50578EACE}"/>
              </a:ext>
            </a:extLst>
          </p:cNvPr>
          <p:cNvSpPr txBox="1"/>
          <p:nvPr/>
        </p:nvSpPr>
        <p:spPr>
          <a:xfrm>
            <a:off x="711200" y="36068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AAAAAA"/>
                </a:solidFill>
                <a:latin typeface="Segoe UI" panose="020B0502040204020203" pitchFamily="34" charset="0"/>
              </a:rPr>
              <a:t>Terra do Churrasco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7FBB380-8979-57B7-E313-2B4549A966E8}"/>
              </a:ext>
            </a:extLst>
          </p:cNvPr>
          <p:cNvSpPr txBox="1"/>
          <p:nvPr/>
        </p:nvSpPr>
        <p:spPr>
          <a:xfrm>
            <a:off x="3505200" y="36068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4.6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34045FD-BBCE-BB5D-3962-D37A1BE7E25D}"/>
              </a:ext>
            </a:extLst>
          </p:cNvPr>
          <p:cNvSpPr txBox="1"/>
          <p:nvPr/>
        </p:nvSpPr>
        <p:spPr>
          <a:xfrm>
            <a:off x="4521200" y="36068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943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31DD5F3-E391-17F0-9AD9-36BB6727902C}"/>
              </a:ext>
            </a:extLst>
          </p:cNvPr>
          <p:cNvSpPr txBox="1"/>
          <p:nvPr/>
        </p:nvSpPr>
        <p:spPr>
          <a:xfrm>
            <a:off x="5791200" y="36068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✕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66E0A94-B610-0FC7-F7D3-8C0C9F82C0A6}"/>
              </a:ext>
            </a:extLst>
          </p:cNvPr>
          <p:cNvSpPr txBox="1"/>
          <p:nvPr/>
        </p:nvSpPr>
        <p:spPr>
          <a:xfrm>
            <a:off x="6807200" y="36068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✕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0AF59AC-278A-4B1C-2229-D89430EB1D37}"/>
              </a:ext>
            </a:extLst>
          </p:cNvPr>
          <p:cNvSpPr txBox="1"/>
          <p:nvPr/>
        </p:nvSpPr>
        <p:spPr>
          <a:xfrm>
            <a:off x="8077200" y="3606800"/>
            <a:ext cx="34036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555555"/>
                </a:solidFill>
                <a:latin typeface="Segoe UI" panose="020B0502040204020203" pitchFamily="34" charset="0"/>
              </a:rPr>
              <a:t>4-6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A88E507-9816-D334-833F-71E7DB5C615C}"/>
              </a:ext>
            </a:extLst>
          </p:cNvPr>
          <p:cNvSpPr/>
          <p:nvPr/>
        </p:nvSpPr>
        <p:spPr>
          <a:xfrm>
            <a:off x="711200" y="3962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C279748-B3DD-500C-6974-FDAE81AD4FA9}"/>
              </a:ext>
            </a:extLst>
          </p:cNvPr>
          <p:cNvSpPr txBox="1"/>
          <p:nvPr/>
        </p:nvSpPr>
        <p:spPr>
          <a:xfrm>
            <a:off x="711200" y="39878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AAAAAA"/>
                </a:solidFill>
                <a:latin typeface="Segoe UI" panose="020B0502040204020203" pitchFamily="34" charset="0"/>
              </a:rPr>
              <a:t>Estancia Churrascaria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5446710-2E79-A1BF-EAD4-519FA0AF6F86}"/>
              </a:ext>
            </a:extLst>
          </p:cNvPr>
          <p:cNvSpPr txBox="1"/>
          <p:nvPr/>
        </p:nvSpPr>
        <p:spPr>
          <a:xfrm>
            <a:off x="3505200" y="39878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3.6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F65CF30-DC80-3768-07DF-AD078FB83372}"/>
              </a:ext>
            </a:extLst>
          </p:cNvPr>
          <p:cNvSpPr txBox="1"/>
          <p:nvPr/>
        </p:nvSpPr>
        <p:spPr>
          <a:xfrm>
            <a:off x="4521200" y="39878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F9F3A57-1CA4-D226-AD2F-33385A11D1F4}"/>
              </a:ext>
            </a:extLst>
          </p:cNvPr>
          <p:cNvSpPr txBox="1"/>
          <p:nvPr/>
        </p:nvSpPr>
        <p:spPr>
          <a:xfrm>
            <a:off x="5791200" y="39878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✕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547CA78-4FD3-FCB9-FC73-0C8B0230DC15}"/>
              </a:ext>
            </a:extLst>
          </p:cNvPr>
          <p:cNvSpPr txBox="1"/>
          <p:nvPr/>
        </p:nvSpPr>
        <p:spPr>
          <a:xfrm>
            <a:off x="6807200" y="39878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E31B23"/>
                </a:solidFill>
                <a:latin typeface="Segoe UI" panose="020B0502040204020203" pitchFamily="34" charset="0"/>
              </a:rPr>
              <a:t>✕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C737E67-A527-BF2A-E321-21237A4B65A0}"/>
              </a:ext>
            </a:extLst>
          </p:cNvPr>
          <p:cNvSpPr txBox="1"/>
          <p:nvPr/>
        </p:nvSpPr>
        <p:spPr>
          <a:xfrm>
            <a:off x="8077200" y="3987800"/>
            <a:ext cx="34036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555555"/>
                </a:solidFill>
                <a:latin typeface="Segoe UI" panose="020B0502040204020203" pitchFamily="34" charset="0"/>
              </a:rPr>
              <a:t>Fora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535E0E30-E000-D48B-4C17-E0B9C2978A46}"/>
              </a:ext>
            </a:extLst>
          </p:cNvPr>
          <p:cNvSpPr/>
          <p:nvPr/>
        </p:nvSpPr>
        <p:spPr>
          <a:xfrm>
            <a:off x="711200" y="4343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3DD4F339-93CB-A5EC-8C05-62939B8EB5B6}"/>
              </a:ext>
            </a:extLst>
          </p:cNvPr>
          <p:cNvSpPr/>
          <p:nvPr/>
        </p:nvSpPr>
        <p:spPr>
          <a:xfrm>
            <a:off x="711200" y="4470400"/>
            <a:ext cx="10769600" cy="660400"/>
          </a:xfrm>
          <a:prstGeom prst="roundRect">
            <a:avLst>
              <a:gd name="adj" fmla="val 4000"/>
            </a:avLst>
          </a:prstGeom>
          <a:solidFill>
            <a:srgbClr val="22C55E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FEE17EE4-AD33-9FAF-8EE7-32540133B10F}"/>
              </a:ext>
            </a:extLst>
          </p:cNvPr>
          <p:cNvSpPr/>
          <p:nvPr/>
        </p:nvSpPr>
        <p:spPr>
          <a:xfrm>
            <a:off x="711200" y="4470400"/>
            <a:ext cx="38100" cy="6604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54890EB6-BB6C-B0BC-38EF-76D411488556}"/>
              </a:ext>
            </a:extLst>
          </p:cNvPr>
          <p:cNvSpPr txBox="1"/>
          <p:nvPr/>
        </p:nvSpPr>
        <p:spPr>
          <a:xfrm>
            <a:off x="889000" y="45212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O Terra tem nota 4.6 - igual ao Giovanaz (#3).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8630A10-BFAA-FB6A-3A60-41DC2CFE5DCE}"/>
              </a:ext>
            </a:extLst>
          </p:cNvPr>
          <p:cNvSpPr txBox="1"/>
          <p:nvPr/>
        </p:nvSpPr>
        <p:spPr>
          <a:xfrm>
            <a:off x="889000" y="4749800"/>
            <a:ext cx="1041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A diferenca entre a posicao atual e o Top 3 e infraestrutura digital: site otimizado, Google Posts e gestao ativa de reviews.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0A33EA7-DB30-D7A8-FD23-9F67C7162FE7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9CFA8A8-9E7D-7BBA-B5A4-A7B61CF28328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E7227483-FDF8-7B68-33BB-1542C9D92D9F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6</a:t>
            </a:r>
          </a:p>
        </p:txBody>
      </p:sp>
    </p:spTree>
    <p:extLst>
      <p:ext uri="{BB962C8B-B14F-4D97-AF65-F5344CB8AC3E}">
        <p14:creationId xmlns:p14="http://schemas.microsoft.com/office/powerpoint/2010/main" val="230881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15BBE3AF-626F-3F1B-999A-1B651AC56AC0}"/>
              </a:ext>
            </a:extLst>
          </p:cNvPr>
          <p:cNvSpPr/>
          <p:nvPr/>
        </p:nvSpPr>
        <p:spPr>
          <a:xfrm>
            <a:off x="-635000" y="5080000"/>
            <a:ext cx="2286000" cy="2286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2D6C84-0983-C027-85E5-195246DE2860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A OPORTUNIDADE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3F0392-5159-395F-8E9D-C0454D72A0FC}"/>
              </a:ext>
            </a:extLst>
          </p:cNvPr>
          <p:cNvSpPr txBox="1"/>
          <p:nvPr/>
        </p:nvSpPr>
        <p:spPr>
          <a:xfrm>
            <a:off x="711200" y="7112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Segoe UI" panose="020B0502040204020203" pitchFamily="34" charset="0"/>
              </a:rPr>
              <a:t>Potencial de crescimento: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085F5E-6B4E-4F6F-2AFC-893CEEE37FB6}"/>
              </a:ext>
            </a:extLst>
          </p:cNvPr>
          <p:cNvSpPr txBox="1"/>
          <p:nvPr/>
        </p:nvSpPr>
        <p:spPr>
          <a:xfrm>
            <a:off x="711200" y="11176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E31B23"/>
                </a:solidFill>
                <a:latin typeface="Segoe UI" panose="020B0502040204020203" pitchFamily="34" charset="0"/>
              </a:rPr>
              <a:t>presenca digital estruturada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C3009CB-9D3B-3B74-188A-5611AC1ABFC0}"/>
              </a:ext>
            </a:extLst>
          </p:cNvPr>
          <p:cNvSpPr/>
          <p:nvPr/>
        </p:nvSpPr>
        <p:spPr>
          <a:xfrm>
            <a:off x="711200" y="1778000"/>
            <a:ext cx="10769600" cy="8255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9EB9E4-D3CB-A633-1B83-999D833594C4}"/>
              </a:ext>
            </a:extLst>
          </p:cNvPr>
          <p:cNvSpPr txBox="1"/>
          <p:nvPr/>
        </p:nvSpPr>
        <p:spPr>
          <a:xfrm>
            <a:off x="965200" y="1841500"/>
            <a:ext cx="102616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Com o potencial atual dos dois restaurantes, existe uma oportunidade clara de aumento significativo na prospeccao de clientes e crescimento da presenca digital.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826DBE7-36EE-133C-F4AA-6C3F7092F833}"/>
              </a:ext>
            </a:extLst>
          </p:cNvPr>
          <p:cNvSpPr/>
          <p:nvPr/>
        </p:nvSpPr>
        <p:spPr>
          <a:xfrm>
            <a:off x="711200" y="28575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C88F6D-2805-EACD-DAB9-FA962E22D555}"/>
              </a:ext>
            </a:extLst>
          </p:cNvPr>
          <p:cNvSpPr txBox="1"/>
          <p:nvPr/>
        </p:nvSpPr>
        <p:spPr>
          <a:xfrm>
            <a:off x="914400" y="2984500"/>
            <a:ext cx="4800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TERRA DO CHURRASCO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D6DCB6-9D71-7986-3476-73CE389F37B9}"/>
              </a:ext>
            </a:extLst>
          </p:cNvPr>
          <p:cNvSpPr txBox="1"/>
          <p:nvPr/>
        </p:nvSpPr>
        <p:spPr>
          <a:xfrm>
            <a:off x="914400" y="3213100"/>
            <a:ext cx="4800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Necessidades Estrategicas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C153A82-8B60-8085-DBEF-0F31B37B629C}"/>
              </a:ext>
            </a:extLst>
          </p:cNvPr>
          <p:cNvSpPr txBox="1"/>
          <p:nvPr/>
        </p:nvSpPr>
        <p:spPr>
          <a:xfrm>
            <a:off x="914400" y="3492500"/>
            <a:ext cx="4800600" cy="10156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Site profissional com SEO local
Otimizacao completa do GBP
Gestao ativa de 943 avaliacoes
Funil de conversao no Instagram
Google Posts estrategicos
Infraestrutura de trafego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369A257-3CB1-3BA7-DD34-259F1C594401}"/>
              </a:ext>
            </a:extLst>
          </p:cNvPr>
          <p:cNvSpPr/>
          <p:nvPr/>
        </p:nvSpPr>
        <p:spPr>
          <a:xfrm>
            <a:off x="6273800" y="28575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5CCC1A-DB82-6427-CF2D-F7F082C3B704}"/>
              </a:ext>
            </a:extLst>
          </p:cNvPr>
          <p:cNvSpPr txBox="1"/>
          <p:nvPr/>
        </p:nvSpPr>
        <p:spPr>
          <a:xfrm>
            <a:off x="6477000" y="2984500"/>
            <a:ext cx="4800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ESTANCIA CHURRASCARIA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96DCE42-46A8-D543-1414-C851EDD48BA1}"/>
              </a:ext>
            </a:extLst>
          </p:cNvPr>
          <p:cNvSpPr txBox="1"/>
          <p:nvPr/>
        </p:nvSpPr>
        <p:spPr>
          <a:xfrm>
            <a:off x="6477000" y="3213100"/>
            <a:ext cx="4800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Necessidades Estrategicas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0A89032-F770-2220-EDEA-FC9E72BCC58E}"/>
              </a:ext>
            </a:extLst>
          </p:cNvPr>
          <p:cNvSpPr txBox="1"/>
          <p:nvPr/>
        </p:nvSpPr>
        <p:spPr>
          <a:xfrm>
            <a:off x="6477000" y="3492500"/>
            <a:ext cx="4800600" cy="10156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Reivindicacao urgente do GBP
Adicao de telefone e WhatsApp
Site profissional do zero
Construcao de reputacao online
Reativacao completa do Instagram
Sessao fotografica profissional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A5602C2-FFCF-1693-0030-F434DEE94EA7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2F262C2-20E0-06DC-D3CC-A1EF9382D602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4106F2D-F0D1-1662-8E05-FC388590980F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7</a:t>
            </a:r>
          </a:p>
        </p:txBody>
      </p:sp>
    </p:spTree>
    <p:extLst>
      <p:ext uri="{BB962C8B-B14F-4D97-AF65-F5344CB8AC3E}">
        <p14:creationId xmlns:p14="http://schemas.microsoft.com/office/powerpoint/2010/main" val="1335966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9E946BAA-A9BB-DA1E-F727-42A60BCA9119}"/>
              </a:ext>
            </a:extLst>
          </p:cNvPr>
          <p:cNvSpPr/>
          <p:nvPr/>
        </p:nvSpPr>
        <p:spPr>
          <a:xfrm>
            <a:off x="10922000" y="-508000"/>
            <a:ext cx="2286000" cy="2286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79B4ED-9645-5785-AA89-DD66D144DE8D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FASE 1 - ESTRATEGIA DE EXECUCAO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0E9492-AEAA-3B52-16FB-CB9F7D2E8BBE}"/>
              </a:ext>
            </a:extLst>
          </p:cNvPr>
          <p:cNvSpPr txBox="1"/>
          <p:nvPr/>
        </p:nvSpPr>
        <p:spPr>
          <a:xfrm>
            <a:off x="711200" y="711200"/>
            <a:ext cx="107696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Segoe UI" panose="020B0502040204020203" pitchFamily="34" charset="0"/>
              </a:rPr>
              <a:t>4 pilares de crescimento estruturado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F4483B-779C-5C39-CE1D-9A096C5C8540}"/>
              </a:ext>
            </a:extLst>
          </p:cNvPr>
          <p:cNvSpPr txBox="1"/>
          <p:nvPr/>
        </p:nvSpPr>
        <p:spPr>
          <a:xfrm>
            <a:off x="711200" y="11684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Reestruturacao e fortalecimento do trafego organico para ambas as unidades.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58EF7C8-071B-C469-8E9C-D3364D1A855D}"/>
              </a:ext>
            </a:extLst>
          </p:cNvPr>
          <p:cNvSpPr/>
          <p:nvPr/>
        </p:nvSpPr>
        <p:spPr>
          <a:xfrm>
            <a:off x="711200" y="1549400"/>
            <a:ext cx="5207000" cy="19685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143AC11-4D6B-7BB6-8E02-8D9F86E1C2A6}"/>
              </a:ext>
            </a:extLst>
          </p:cNvPr>
          <p:cNvSpPr/>
          <p:nvPr/>
        </p:nvSpPr>
        <p:spPr>
          <a:xfrm>
            <a:off x="711200" y="1549400"/>
            <a:ext cx="5207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D43BEB-3D92-4F92-85DA-A3D17177FAC9}"/>
              </a:ext>
            </a:extLst>
          </p:cNvPr>
          <p:cNvSpPr txBox="1"/>
          <p:nvPr/>
        </p:nvSpPr>
        <p:spPr>
          <a:xfrm>
            <a:off x="889000" y="1676400"/>
            <a:ext cx="48514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PILAR 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E7CAB8-451A-9B35-012F-349F8125B095}"/>
              </a:ext>
            </a:extLst>
          </p:cNvPr>
          <p:cNvSpPr txBox="1"/>
          <p:nvPr/>
        </p:nvSpPr>
        <p:spPr>
          <a:xfrm>
            <a:off x="889000" y="1879600"/>
            <a:ext cx="48514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  <a:latin typeface="Segoe UI" panose="020B0502040204020203" pitchFamily="34" charset="0"/>
              </a:rPr>
              <a:t>Fundacao Digital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74C3898-7E13-E98B-9F55-41832F584C07}"/>
              </a:ext>
            </a:extLst>
          </p:cNvPr>
          <p:cNvSpPr txBox="1"/>
          <p:nvPr/>
        </p:nvSpPr>
        <p:spPr>
          <a:xfrm>
            <a:off x="889000" y="2159000"/>
            <a:ext cx="48514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Reivindicar GBP da Estancia
Sites profissionais com SEO local
Descricoes estrategicas com keywords
Sessao fotografica profissional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D5B64DE-E3BC-4769-280B-5556130950EC}"/>
              </a:ext>
            </a:extLst>
          </p:cNvPr>
          <p:cNvSpPr/>
          <p:nvPr/>
        </p:nvSpPr>
        <p:spPr>
          <a:xfrm>
            <a:off x="6172200" y="1549400"/>
            <a:ext cx="5207000" cy="19685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C14064D-6BCC-17AD-35EE-2DDB684C89A2}"/>
              </a:ext>
            </a:extLst>
          </p:cNvPr>
          <p:cNvSpPr/>
          <p:nvPr/>
        </p:nvSpPr>
        <p:spPr>
          <a:xfrm>
            <a:off x="6172200" y="1549400"/>
            <a:ext cx="5207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054D76F-B43C-1AF9-E8A3-3399D98AFA1A}"/>
              </a:ext>
            </a:extLst>
          </p:cNvPr>
          <p:cNvSpPr txBox="1"/>
          <p:nvPr/>
        </p:nvSpPr>
        <p:spPr>
          <a:xfrm>
            <a:off x="6350000" y="1676400"/>
            <a:ext cx="48514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PILAR 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40B73A8-BEA1-8E7A-5B58-4B7E88BBC1C6}"/>
              </a:ext>
            </a:extLst>
          </p:cNvPr>
          <p:cNvSpPr txBox="1"/>
          <p:nvPr/>
        </p:nvSpPr>
        <p:spPr>
          <a:xfrm>
            <a:off x="6350000" y="1879600"/>
            <a:ext cx="48514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  <a:latin typeface="Segoe UI" panose="020B0502040204020203" pitchFamily="34" charset="0"/>
              </a:rPr>
              <a:t>Reputacao e Conteudo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21CDFE9-1831-D6E2-C354-57C657D4B46E}"/>
              </a:ext>
            </a:extLst>
          </p:cNvPr>
          <p:cNvSpPr txBox="1"/>
          <p:nvPr/>
        </p:nvSpPr>
        <p:spPr>
          <a:xfrm>
            <a:off x="6350000" y="2159000"/>
            <a:ext cx="48514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Responder todas as 964 avaliacoes
Google Posts com promocoes
QR codes de avaliacao nas mesas
Reativacao Instagram da Estancia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4D52341-6D29-0CB7-26F7-368A582E7BD8}"/>
              </a:ext>
            </a:extLst>
          </p:cNvPr>
          <p:cNvSpPr/>
          <p:nvPr/>
        </p:nvSpPr>
        <p:spPr>
          <a:xfrm>
            <a:off x="711200" y="3695700"/>
            <a:ext cx="5207000" cy="19685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4DB7FCE-1891-CCAC-9C62-CCDC8DCC1E00}"/>
              </a:ext>
            </a:extLst>
          </p:cNvPr>
          <p:cNvSpPr/>
          <p:nvPr/>
        </p:nvSpPr>
        <p:spPr>
          <a:xfrm>
            <a:off x="711200" y="3695700"/>
            <a:ext cx="5207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5A6DD8A-F7E9-AB6F-59C9-923E2F9AB68B}"/>
              </a:ext>
            </a:extLst>
          </p:cNvPr>
          <p:cNvSpPr txBox="1"/>
          <p:nvPr/>
        </p:nvSpPr>
        <p:spPr>
          <a:xfrm>
            <a:off x="889000" y="3822700"/>
            <a:ext cx="48514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PILAR 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FDBB0A5-6401-DAB4-FED5-2180069EF2E2}"/>
              </a:ext>
            </a:extLst>
          </p:cNvPr>
          <p:cNvSpPr txBox="1"/>
          <p:nvPr/>
        </p:nvSpPr>
        <p:spPr>
          <a:xfrm>
            <a:off x="889000" y="4025900"/>
            <a:ext cx="48514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  <a:latin typeface="Segoe UI" panose="020B0502040204020203" pitchFamily="34" charset="0"/>
              </a:rPr>
              <a:t>Trafego e Conversao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FB5E593-5EBC-E96D-BAD6-EE132859777F}"/>
              </a:ext>
            </a:extLst>
          </p:cNvPr>
          <p:cNvSpPr txBox="1"/>
          <p:nvPr/>
        </p:nvSpPr>
        <p:spPr>
          <a:xfrm>
            <a:off x="889000" y="4305300"/>
            <a:ext cx="48514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Funil Instagram &gt; Site &gt; WhatsApp
Google Analytics + remarketing
Otimizacao de conversao local
Parcerias com influenciadores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E378703-D174-F17A-421D-AA7F7942D809}"/>
              </a:ext>
            </a:extLst>
          </p:cNvPr>
          <p:cNvSpPr/>
          <p:nvPr/>
        </p:nvSpPr>
        <p:spPr>
          <a:xfrm>
            <a:off x="6172200" y="3695700"/>
            <a:ext cx="5207000" cy="19685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B13A0AD-C5E2-1250-51A5-4FCD76ED1141}"/>
              </a:ext>
            </a:extLst>
          </p:cNvPr>
          <p:cNvSpPr/>
          <p:nvPr/>
        </p:nvSpPr>
        <p:spPr>
          <a:xfrm>
            <a:off x="6172200" y="3695700"/>
            <a:ext cx="5207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86CB3B4-0847-4BF0-D6B3-2B0FC6BC69DD}"/>
              </a:ext>
            </a:extLst>
          </p:cNvPr>
          <p:cNvSpPr txBox="1"/>
          <p:nvPr/>
        </p:nvSpPr>
        <p:spPr>
          <a:xfrm>
            <a:off x="6350000" y="3822700"/>
            <a:ext cx="48514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PILAR 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054516F-7A10-03D6-B7D3-8B07783C1DD3}"/>
              </a:ext>
            </a:extLst>
          </p:cNvPr>
          <p:cNvSpPr txBox="1"/>
          <p:nvPr/>
        </p:nvSpPr>
        <p:spPr>
          <a:xfrm>
            <a:off x="6350000" y="4025900"/>
            <a:ext cx="48514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  <a:latin typeface="Segoe UI" panose="020B0502040204020203" pitchFamily="34" charset="0"/>
              </a:rPr>
              <a:t>Escala e Posicionamento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F608FC4-6A0D-E68D-0102-29EAEB8DB5A0}"/>
              </a:ext>
            </a:extLst>
          </p:cNvPr>
          <p:cNvSpPr txBox="1"/>
          <p:nvPr/>
        </p:nvSpPr>
        <p:spPr>
          <a:xfrm>
            <a:off x="6350000" y="4305300"/>
            <a:ext cx="48514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Blog SEO estrategico
Tour virtual 360 no Google Maps
Consolidacao de autoridade digital
Monitoramento continuo de KPIs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6A69803-D55A-74C7-46C5-512E4B169132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42BD06-F842-FCE4-CFFC-F0B78F42A8CB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CC576DB-3180-E29E-414A-D9040A17ED5D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8</a:t>
            </a:r>
          </a:p>
        </p:txBody>
      </p:sp>
    </p:spTree>
    <p:extLst>
      <p:ext uri="{BB962C8B-B14F-4D97-AF65-F5344CB8AC3E}">
        <p14:creationId xmlns:p14="http://schemas.microsoft.com/office/powerpoint/2010/main" val="1180996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86AE14E3-E87D-8BA3-9B97-6E5D12CBECE5}"/>
              </a:ext>
            </a:extLst>
          </p:cNvPr>
          <p:cNvSpPr/>
          <p:nvPr/>
        </p:nvSpPr>
        <p:spPr>
          <a:xfrm>
            <a:off x="-635000" y="5334000"/>
            <a:ext cx="2032000" cy="2032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054114-C0F0-E0C6-67B5-8CB3FCA4C163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ESCOPO DE SERVICOS - FASE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159698-CD5E-5AEC-0A1E-A5D2CB2650EB}"/>
              </a:ext>
            </a:extLst>
          </p:cNvPr>
          <p:cNvSpPr txBox="1"/>
          <p:nvPr/>
        </p:nvSpPr>
        <p:spPr>
          <a:xfrm>
            <a:off x="711200" y="711200"/>
            <a:ext cx="107696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Segoe UI" panose="020B0502040204020203" pitchFamily="34" charset="0"/>
              </a:rPr>
              <a:t>Solucoes integradas para duas unidades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8677DA7-8856-77AC-426F-139539FF2EA5}"/>
              </a:ext>
            </a:extLst>
          </p:cNvPr>
          <p:cNvSpPr/>
          <p:nvPr/>
        </p:nvSpPr>
        <p:spPr>
          <a:xfrm>
            <a:off x="711200" y="1270000"/>
            <a:ext cx="3429000" cy="4826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BDD26BF-D5AB-2DFB-D45C-0150F7BAF7A7}"/>
              </a:ext>
            </a:extLst>
          </p:cNvPr>
          <p:cNvSpPr/>
          <p:nvPr/>
        </p:nvSpPr>
        <p:spPr>
          <a:xfrm>
            <a:off x="711200" y="1270000"/>
            <a:ext cx="3429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60EFA5-41BE-8161-9CCD-8450DE62D204}"/>
              </a:ext>
            </a:extLst>
          </p:cNvPr>
          <p:cNvSpPr txBox="1"/>
          <p:nvPr/>
        </p:nvSpPr>
        <p:spPr>
          <a:xfrm>
            <a:off x="889000" y="1422400"/>
            <a:ext cx="30734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GOOGLE BUSINESS PROFILE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C11BB-180A-3FFD-8DDC-1D73060643CF}"/>
              </a:ext>
            </a:extLst>
          </p:cNvPr>
          <p:cNvSpPr txBox="1"/>
          <p:nvPr/>
        </p:nvSpPr>
        <p:spPr>
          <a:xfrm>
            <a:off x="889000" y="1701800"/>
            <a:ext cx="3073400" cy="116955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Reivindicacao + setup GBP
Otimizacao SEO local
Google Posts estrategicos
Gestao de reviews
Q e A proativos
Fotos profissionais
Relatorio de performance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33B23F6-C187-6B01-247A-4BEEAEBC84E5}"/>
              </a:ext>
            </a:extLst>
          </p:cNvPr>
          <p:cNvSpPr/>
          <p:nvPr/>
        </p:nvSpPr>
        <p:spPr>
          <a:xfrm>
            <a:off x="4318000" y="1270000"/>
            <a:ext cx="3429000" cy="4826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BBDE44-741A-E478-B6FA-4DA2EAB09234}"/>
              </a:ext>
            </a:extLst>
          </p:cNvPr>
          <p:cNvSpPr/>
          <p:nvPr/>
        </p:nvSpPr>
        <p:spPr>
          <a:xfrm>
            <a:off x="4318000" y="1270000"/>
            <a:ext cx="3429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145CC3-6D01-B9ED-2757-E0A57B3818DC}"/>
              </a:ext>
            </a:extLst>
          </p:cNvPr>
          <p:cNvSpPr txBox="1"/>
          <p:nvPr/>
        </p:nvSpPr>
        <p:spPr>
          <a:xfrm>
            <a:off x="4495800" y="1422400"/>
            <a:ext cx="30734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SITE + SEO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D77BC1-D737-5C39-F9DB-79805C23D3D3}"/>
              </a:ext>
            </a:extLst>
          </p:cNvPr>
          <p:cNvSpPr txBox="1"/>
          <p:nvPr/>
        </p:nvSpPr>
        <p:spPr>
          <a:xfrm>
            <a:off x="4495800" y="1701800"/>
            <a:ext cx="3073400" cy="116955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Landing page premium
Criacao de dominio
Design mobile-first
Schema Markup local
WhatsApp + reservas
Cardapio digital integrado
Google Analytics + pixels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786DC24-B15F-221E-4DF4-B220BE8DEC06}"/>
              </a:ext>
            </a:extLst>
          </p:cNvPr>
          <p:cNvSpPr/>
          <p:nvPr/>
        </p:nvSpPr>
        <p:spPr>
          <a:xfrm>
            <a:off x="7924800" y="1270000"/>
            <a:ext cx="3429000" cy="4826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E02B776-ED38-6220-3006-96FF87379428}"/>
              </a:ext>
            </a:extLst>
          </p:cNvPr>
          <p:cNvSpPr/>
          <p:nvPr/>
        </p:nvSpPr>
        <p:spPr>
          <a:xfrm>
            <a:off x="7924800" y="1270000"/>
            <a:ext cx="3429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BE9D717-FCE3-77C0-F57A-1984545796F0}"/>
              </a:ext>
            </a:extLst>
          </p:cNvPr>
          <p:cNvSpPr txBox="1"/>
          <p:nvPr/>
        </p:nvSpPr>
        <p:spPr>
          <a:xfrm>
            <a:off x="8102600" y="1422400"/>
            <a:ext cx="30734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INSTAGRAM ESTRATEGICO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9E47D75-B808-09D6-8613-BBB27C787FE6}"/>
              </a:ext>
            </a:extLst>
          </p:cNvPr>
          <p:cNvSpPr txBox="1"/>
          <p:nvPr/>
        </p:nvSpPr>
        <p:spPr>
          <a:xfrm>
            <a:off x="8102600" y="1701800"/>
            <a:ext cx="3073400" cy="116955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Branding e identidade visual
3 posts semanais
Rebranding (se necessario)
Gestao de conteudo estrategico
Calendario editorial
Stories estrategicos
Relatorio de performance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F26C3A4-37D1-F7E0-0E58-BA0DF7963945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1C220FC-B725-E1BC-E14F-907F26643B86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1CD8475-B50B-F877-696E-FDF1A13B2962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9</a:t>
            </a:r>
          </a:p>
        </p:txBody>
      </p:sp>
    </p:spTree>
    <p:extLst>
      <p:ext uri="{BB962C8B-B14F-4D97-AF65-F5344CB8AC3E}">
        <p14:creationId xmlns:p14="http://schemas.microsoft.com/office/powerpoint/2010/main" val="178527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70033AB2-B580-910A-1914-EF13BE673B78}"/>
              </a:ext>
            </a:extLst>
          </p:cNvPr>
          <p:cNvSpPr/>
          <p:nvPr/>
        </p:nvSpPr>
        <p:spPr>
          <a:xfrm>
            <a:off x="10922000" y="-508000"/>
            <a:ext cx="2286000" cy="2286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F5098B-99F0-F82F-E5F5-A10C16B2555A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METRICAS ESTRATEGICAS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38DB76A-B000-60FA-9992-A21138C5A1B4}"/>
              </a:ext>
            </a:extLst>
          </p:cNvPr>
          <p:cNvSpPr txBox="1"/>
          <p:nvPr/>
        </p:nvSpPr>
        <p:spPr>
          <a:xfrm>
            <a:off x="711200" y="711200"/>
            <a:ext cx="107696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Segoe UI" panose="020B0502040204020203" pitchFamily="34" charset="0"/>
              </a:rPr>
              <a:t>Indicadores de posicionamento digital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7FBA38-D62E-68EB-FA96-C3F2C348EB83}"/>
              </a:ext>
            </a:extLst>
          </p:cNvPr>
          <p:cNvSpPr txBox="1"/>
          <p:nvPr/>
        </p:nvSpPr>
        <p:spPr>
          <a:xfrm>
            <a:off x="711200" y="11684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KPIs mensuraveis com acompanhamento continuo.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499249-99B7-4455-4FA0-18EDEA497E03}"/>
              </a:ext>
            </a:extLst>
          </p:cNvPr>
          <p:cNvSpPr/>
          <p:nvPr/>
        </p:nvSpPr>
        <p:spPr>
          <a:xfrm>
            <a:off x="711200" y="1549400"/>
            <a:ext cx="10769600" cy="254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5F749F-0508-54B7-A7A2-8DE12FB96797}"/>
              </a:ext>
            </a:extLst>
          </p:cNvPr>
          <p:cNvSpPr txBox="1"/>
          <p:nvPr/>
        </p:nvSpPr>
        <p:spPr>
          <a:xfrm>
            <a:off x="711200" y="1600200"/>
            <a:ext cx="50800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KPI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7BAF676-BBB4-547B-40FA-E4C44A3668AC}"/>
              </a:ext>
            </a:extLst>
          </p:cNvPr>
          <p:cNvSpPr txBox="1"/>
          <p:nvPr/>
        </p:nvSpPr>
        <p:spPr>
          <a:xfrm>
            <a:off x="5791200" y="1600200"/>
            <a:ext cx="28448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SITUACAO ATUAL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9AD3DA-ABA9-FCA8-16EF-BCA04BB8EF0B}"/>
              </a:ext>
            </a:extLst>
          </p:cNvPr>
          <p:cNvSpPr txBox="1"/>
          <p:nvPr/>
        </p:nvSpPr>
        <p:spPr>
          <a:xfrm>
            <a:off x="8636000" y="1600200"/>
            <a:ext cx="28448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OBJETIVO ESTRATEGICO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E2B1DA-F526-3544-4C6E-5D2646416148}"/>
              </a:ext>
            </a:extLst>
          </p:cNvPr>
          <p:cNvSpPr txBox="1"/>
          <p:nvPr/>
        </p:nvSpPr>
        <p:spPr>
          <a:xfrm>
            <a:off x="711200" y="1955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Reviews Terra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F11D54A-A3C9-9C50-28B3-F4CAB91ED526}"/>
              </a:ext>
            </a:extLst>
          </p:cNvPr>
          <p:cNvSpPr txBox="1"/>
          <p:nvPr/>
        </p:nvSpPr>
        <p:spPr>
          <a:xfrm>
            <a:off x="5791200" y="1955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943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850346-87B6-18C5-9D11-AD0765855CE1}"/>
              </a:ext>
            </a:extLst>
          </p:cNvPr>
          <p:cNvSpPr txBox="1"/>
          <p:nvPr/>
        </p:nvSpPr>
        <p:spPr>
          <a:xfrm>
            <a:off x="8636000" y="1955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1.500+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2E67CFE-0E62-79BE-6A9F-EB430EB75BC4}"/>
              </a:ext>
            </a:extLst>
          </p:cNvPr>
          <p:cNvSpPr/>
          <p:nvPr/>
        </p:nvSpPr>
        <p:spPr>
          <a:xfrm>
            <a:off x="711200" y="2311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80B3AF4-07E7-282D-76E2-12DE5B4B1DFC}"/>
              </a:ext>
            </a:extLst>
          </p:cNvPr>
          <p:cNvSpPr txBox="1"/>
          <p:nvPr/>
        </p:nvSpPr>
        <p:spPr>
          <a:xfrm>
            <a:off x="711200" y="2336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Nota Terra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E536787-F66B-100F-5497-061682DEAF4B}"/>
              </a:ext>
            </a:extLst>
          </p:cNvPr>
          <p:cNvSpPr txBox="1"/>
          <p:nvPr/>
        </p:nvSpPr>
        <p:spPr>
          <a:xfrm>
            <a:off x="5791200" y="2336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4.6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E29DB2-BD62-13EA-6A99-F5B703E27E22}"/>
              </a:ext>
            </a:extLst>
          </p:cNvPr>
          <p:cNvSpPr txBox="1"/>
          <p:nvPr/>
        </p:nvSpPr>
        <p:spPr>
          <a:xfrm>
            <a:off x="8636000" y="2336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4.7+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513A191-2F6D-5658-9CCA-20535908548F}"/>
              </a:ext>
            </a:extLst>
          </p:cNvPr>
          <p:cNvSpPr/>
          <p:nvPr/>
        </p:nvSpPr>
        <p:spPr>
          <a:xfrm>
            <a:off x="711200" y="2692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D546A6B-8EA2-AFE4-1F05-05907D614FB2}"/>
              </a:ext>
            </a:extLst>
          </p:cNvPr>
          <p:cNvSpPr txBox="1"/>
          <p:nvPr/>
        </p:nvSpPr>
        <p:spPr>
          <a:xfrm>
            <a:off x="711200" y="2717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Reviews Estancia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C75B7E7-6215-1CEC-77E6-3688EC0F9D3C}"/>
              </a:ext>
            </a:extLst>
          </p:cNvPr>
          <p:cNvSpPr txBox="1"/>
          <p:nvPr/>
        </p:nvSpPr>
        <p:spPr>
          <a:xfrm>
            <a:off x="5791200" y="2717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1E5547D-C6F5-6891-8967-CF7DFDDADC75}"/>
              </a:ext>
            </a:extLst>
          </p:cNvPr>
          <p:cNvSpPr txBox="1"/>
          <p:nvPr/>
        </p:nvSpPr>
        <p:spPr>
          <a:xfrm>
            <a:off x="8636000" y="2717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100+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8913E84-B0F4-30E9-0CB4-247E2BD5BE0A}"/>
              </a:ext>
            </a:extLst>
          </p:cNvPr>
          <p:cNvSpPr/>
          <p:nvPr/>
        </p:nvSpPr>
        <p:spPr>
          <a:xfrm>
            <a:off x="711200" y="3073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3C20BC-9597-1AB5-4FAE-CD25FADEF80E}"/>
              </a:ext>
            </a:extLst>
          </p:cNvPr>
          <p:cNvSpPr txBox="1"/>
          <p:nvPr/>
        </p:nvSpPr>
        <p:spPr>
          <a:xfrm>
            <a:off x="711200" y="3098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Nota Estancia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9DA52EB-5A5F-64D0-63F4-F4F2A9680395}"/>
              </a:ext>
            </a:extLst>
          </p:cNvPr>
          <p:cNvSpPr txBox="1"/>
          <p:nvPr/>
        </p:nvSpPr>
        <p:spPr>
          <a:xfrm>
            <a:off x="5791200" y="3098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3.6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8E5A480-7913-6A1E-5AC6-7F3C7D977A37}"/>
              </a:ext>
            </a:extLst>
          </p:cNvPr>
          <p:cNvSpPr txBox="1"/>
          <p:nvPr/>
        </p:nvSpPr>
        <p:spPr>
          <a:xfrm>
            <a:off x="8636000" y="3098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4.3+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E7E7D39-FA8B-0174-2703-BE590EAD9488}"/>
              </a:ext>
            </a:extLst>
          </p:cNvPr>
          <p:cNvSpPr/>
          <p:nvPr/>
        </p:nvSpPr>
        <p:spPr>
          <a:xfrm>
            <a:off x="711200" y="3454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71D68A6-0BAA-BBFB-C5CB-DE098923D012}"/>
              </a:ext>
            </a:extLst>
          </p:cNvPr>
          <p:cNvSpPr txBox="1"/>
          <p:nvPr/>
        </p:nvSpPr>
        <p:spPr>
          <a:xfrm>
            <a:off x="711200" y="3479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Trafego organico combinado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89F8457-3E46-7E53-1EC5-20FFAFD547EB}"/>
              </a:ext>
            </a:extLst>
          </p:cNvPr>
          <p:cNvSpPr txBox="1"/>
          <p:nvPr/>
        </p:nvSpPr>
        <p:spPr>
          <a:xfrm>
            <a:off x="5791200" y="3479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0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272C8BF-3A35-A203-89BB-02BB2A0C4FCF}"/>
              </a:ext>
            </a:extLst>
          </p:cNvPr>
          <p:cNvSpPr txBox="1"/>
          <p:nvPr/>
        </p:nvSpPr>
        <p:spPr>
          <a:xfrm>
            <a:off x="8636000" y="3479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2.000+ visitas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FECBA14-02BF-2A2A-C7D7-65FDBF9E95BB}"/>
              </a:ext>
            </a:extLst>
          </p:cNvPr>
          <p:cNvSpPr/>
          <p:nvPr/>
        </p:nvSpPr>
        <p:spPr>
          <a:xfrm>
            <a:off x="711200" y="3835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31E8DE0-51ED-28BE-C81F-6D570C5448E4}"/>
              </a:ext>
            </a:extLst>
          </p:cNvPr>
          <p:cNvSpPr txBox="1"/>
          <p:nvPr/>
        </p:nvSpPr>
        <p:spPr>
          <a:xfrm>
            <a:off x="711200" y="3860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Posicao Terra no Maps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5F32D31-935F-05AD-850E-10A4EEADB463}"/>
              </a:ext>
            </a:extLst>
          </p:cNvPr>
          <p:cNvSpPr txBox="1"/>
          <p:nvPr/>
        </p:nvSpPr>
        <p:spPr>
          <a:xfrm>
            <a:off x="5791200" y="3860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4-6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1236458-91BD-13F2-63F0-8B287E344AE8}"/>
              </a:ext>
            </a:extLst>
          </p:cNvPr>
          <p:cNvSpPr txBox="1"/>
          <p:nvPr/>
        </p:nvSpPr>
        <p:spPr>
          <a:xfrm>
            <a:off x="8636000" y="3860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Top 3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C12802B0-A022-B74D-4CFE-88F8AEE560AD}"/>
              </a:ext>
            </a:extLst>
          </p:cNvPr>
          <p:cNvSpPr/>
          <p:nvPr/>
        </p:nvSpPr>
        <p:spPr>
          <a:xfrm>
            <a:off x="711200" y="4216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E82410D-E15F-70CB-28BA-3C4D4DB76BB8}"/>
              </a:ext>
            </a:extLst>
          </p:cNvPr>
          <p:cNvSpPr txBox="1"/>
          <p:nvPr/>
        </p:nvSpPr>
        <p:spPr>
          <a:xfrm>
            <a:off x="711200" y="4241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Posicao Estancia (Floresta)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3F7149F-5310-5D14-08B9-85C984F3F5C0}"/>
              </a:ext>
            </a:extLst>
          </p:cNvPr>
          <p:cNvSpPr txBox="1"/>
          <p:nvPr/>
        </p:nvSpPr>
        <p:spPr>
          <a:xfrm>
            <a:off x="5791200" y="4241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Fora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08DDE06-4BE2-6381-E98A-D6216DE16F3B}"/>
              </a:ext>
            </a:extLst>
          </p:cNvPr>
          <p:cNvSpPr txBox="1"/>
          <p:nvPr/>
        </p:nvSpPr>
        <p:spPr>
          <a:xfrm>
            <a:off x="8636000" y="4241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Top 5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41D0C12-8A01-52C9-AB3C-710A5D965740}"/>
              </a:ext>
            </a:extLst>
          </p:cNvPr>
          <p:cNvSpPr/>
          <p:nvPr/>
        </p:nvSpPr>
        <p:spPr>
          <a:xfrm>
            <a:off x="711200" y="4597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26B1AA3-45C0-C1D8-194F-D936EEEC2463}"/>
              </a:ext>
            </a:extLst>
          </p:cNvPr>
          <p:cNvSpPr txBox="1"/>
          <p:nvPr/>
        </p:nvSpPr>
        <p:spPr>
          <a:xfrm>
            <a:off x="711200" y="46228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Respostas a reviews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BD5508C-F9ED-5E07-1856-45E2B4D831D5}"/>
              </a:ext>
            </a:extLst>
          </p:cNvPr>
          <p:cNvSpPr txBox="1"/>
          <p:nvPr/>
        </p:nvSpPr>
        <p:spPr>
          <a:xfrm>
            <a:off x="5791200" y="4622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0%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A0396CB-4762-C196-22BA-4B9F9D33F664}"/>
              </a:ext>
            </a:extLst>
          </p:cNvPr>
          <p:cNvSpPr txBox="1"/>
          <p:nvPr/>
        </p:nvSpPr>
        <p:spPr>
          <a:xfrm>
            <a:off x="8636000" y="4622800"/>
            <a:ext cx="28448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22C55E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4355FC39-5903-B9D6-2EBC-5DB59AB9B1E6}"/>
              </a:ext>
            </a:extLst>
          </p:cNvPr>
          <p:cNvSpPr/>
          <p:nvPr/>
        </p:nvSpPr>
        <p:spPr>
          <a:xfrm>
            <a:off x="711200" y="4978400"/>
            <a:ext cx="107696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C4A38895-4676-55A7-1BB3-A80DD9BE467E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EEFDD23-39C7-FED6-C164-6774170912BA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1081B34-6FCE-E2B7-FE13-D0C4C5DAE153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10</a:t>
            </a:r>
          </a:p>
        </p:txBody>
      </p:sp>
    </p:spTree>
    <p:extLst>
      <p:ext uri="{BB962C8B-B14F-4D97-AF65-F5344CB8AC3E}">
        <p14:creationId xmlns:p14="http://schemas.microsoft.com/office/powerpoint/2010/main" val="147519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1AC25875-E232-BA9F-086E-BC40172E519B}"/>
              </a:ext>
            </a:extLst>
          </p:cNvPr>
          <p:cNvSpPr/>
          <p:nvPr/>
        </p:nvSpPr>
        <p:spPr>
          <a:xfrm>
            <a:off x="-635000" y="5080000"/>
            <a:ext cx="2286000" cy="2286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380050-3F9F-6FC2-0B42-E394A6C227F8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INVESTIMENTO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56D097-6D92-16A4-C404-21C9A056FDF9}"/>
              </a:ext>
            </a:extLst>
          </p:cNvPr>
          <p:cNvSpPr txBox="1"/>
          <p:nvPr/>
        </p:nvSpPr>
        <p:spPr>
          <a:xfrm>
            <a:off x="711200" y="711200"/>
            <a:ext cx="10769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Segoe UI" panose="020B0502040204020203" pitchFamily="34" charset="0"/>
              </a:rPr>
              <a:t>Investimento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FA8B50-4C62-2ED6-61EC-FE4D55522AD2}"/>
              </a:ext>
            </a:extLst>
          </p:cNvPr>
          <p:cNvSpPr txBox="1"/>
          <p:nvPr/>
        </p:nvSpPr>
        <p:spPr>
          <a:xfrm>
            <a:off x="4038600" y="711200"/>
            <a:ext cx="38100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E31B23"/>
                </a:solidFill>
                <a:latin typeface="Segoe UI" panose="020B0502040204020203" pitchFamily="34" charset="0"/>
              </a:rPr>
              <a:t> LocalRise Advisory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99A64D-FAD1-4798-5FA8-9E0C8D586730}"/>
              </a:ext>
            </a:extLst>
          </p:cNvPr>
          <p:cNvSpPr txBox="1"/>
          <p:nvPr/>
        </p:nvSpPr>
        <p:spPr>
          <a:xfrm>
            <a:off x="711200" y="12192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Escolha o pacote ideal para a construcao da presenca digital dos seus restaurantes.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35E0248-E3F5-D7DB-ED31-EF06C89D4DCD}"/>
              </a:ext>
            </a:extLst>
          </p:cNvPr>
          <p:cNvSpPr/>
          <p:nvPr/>
        </p:nvSpPr>
        <p:spPr>
          <a:xfrm>
            <a:off x="711200" y="1625600"/>
            <a:ext cx="5207000" cy="3429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25400">
            <a:solidFill>
              <a:srgbClr val="E31B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83C0C07-531B-CC6E-B12D-80B13E506E9F}"/>
              </a:ext>
            </a:extLst>
          </p:cNvPr>
          <p:cNvSpPr/>
          <p:nvPr/>
        </p:nvSpPr>
        <p:spPr>
          <a:xfrm>
            <a:off x="2552700" y="1498600"/>
            <a:ext cx="1524000" cy="254000"/>
          </a:xfrm>
          <a:prstGeom prst="roundRect">
            <a:avLst>
              <a:gd name="adj" fmla="val 4000"/>
            </a:avLst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>
                <a:solidFill>
                  <a:srgbClr val="FFFFFF"/>
                </a:solidFill>
                <a:latin typeface="Segoe UI" panose="020B0502040204020203" pitchFamily="34" charset="0"/>
              </a:rPr>
              <a:t>RECOMENDADO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1AAA4F-EA55-C6B7-C043-10691FA95C86}"/>
              </a:ext>
            </a:extLst>
          </p:cNvPr>
          <p:cNvSpPr txBox="1"/>
          <p:nvPr/>
        </p:nvSpPr>
        <p:spPr>
          <a:xfrm>
            <a:off x="965200" y="18034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Segoe UI" panose="020B0502040204020203" pitchFamily="34" charset="0"/>
              </a:rPr>
              <a:t>Pacote Completo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DEF2FD-1EB0-B811-6960-0F88BD3D7A56}"/>
              </a:ext>
            </a:extLst>
          </p:cNvPr>
          <p:cNvSpPr txBox="1"/>
          <p:nvPr/>
        </p:nvSpPr>
        <p:spPr>
          <a:xfrm>
            <a:off x="965200" y="2082800"/>
            <a:ext cx="4699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555555"/>
                </a:solidFill>
                <a:latin typeface="Segoe UI" panose="020B0502040204020203" pitchFamily="34" charset="0"/>
              </a:rPr>
              <a:t>Presenca digital integral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F8696DA-561A-193C-8871-3226D7E566E5}"/>
              </a:ext>
            </a:extLst>
          </p:cNvPr>
          <p:cNvSpPr txBox="1"/>
          <p:nvPr/>
        </p:nvSpPr>
        <p:spPr>
          <a:xfrm>
            <a:off x="965200" y="2362200"/>
            <a:ext cx="4699000" cy="10156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SEO Local (Google Business Profile)
Website profissional (com criacao de dominio)
Instagram estrategico (3 posts semanais)
Branding e identidade visual
Rebranding (se necessario)
Gestao de conteudo estrategico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986698-8184-FFD7-661D-99D6D78D931D}"/>
              </a:ext>
            </a:extLst>
          </p:cNvPr>
          <p:cNvSpPr/>
          <p:nvPr/>
        </p:nvSpPr>
        <p:spPr>
          <a:xfrm>
            <a:off x="965200" y="3810000"/>
            <a:ext cx="46990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5253365-FE2F-7DA2-472E-2AA2852CBB20}"/>
              </a:ext>
            </a:extLst>
          </p:cNvPr>
          <p:cNvSpPr txBox="1"/>
          <p:nvPr/>
        </p:nvSpPr>
        <p:spPr>
          <a:xfrm>
            <a:off x="965200" y="39116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1 restaurante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B2FD807-D419-146F-ABB5-5EB57902CB46}"/>
              </a:ext>
            </a:extLst>
          </p:cNvPr>
          <p:cNvSpPr txBox="1"/>
          <p:nvPr/>
        </p:nvSpPr>
        <p:spPr>
          <a:xfrm>
            <a:off x="3632200" y="3860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b="1">
                <a:solidFill>
                  <a:srgbClr val="FFFFFF"/>
                </a:solidFill>
                <a:latin typeface="Segoe UI" panose="020B0502040204020203" pitchFamily="34" charset="0"/>
              </a:rPr>
              <a:t>R$ 11.200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2666ABD-66BC-6A89-8218-D2568C8BBB67}"/>
              </a:ext>
            </a:extLst>
          </p:cNvPr>
          <p:cNvSpPr/>
          <p:nvPr/>
        </p:nvSpPr>
        <p:spPr>
          <a:xfrm>
            <a:off x="965200" y="4241800"/>
            <a:ext cx="46990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8C4138-655F-AC3E-5CE6-C965DF8F9A68}"/>
              </a:ext>
            </a:extLst>
          </p:cNvPr>
          <p:cNvSpPr txBox="1"/>
          <p:nvPr/>
        </p:nvSpPr>
        <p:spPr>
          <a:xfrm>
            <a:off x="965200" y="43434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2 restaurantes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1F7EF43-E205-CBE9-BCFF-6EE8354A44F9}"/>
              </a:ext>
            </a:extLst>
          </p:cNvPr>
          <p:cNvSpPr txBox="1"/>
          <p:nvPr/>
        </p:nvSpPr>
        <p:spPr>
          <a:xfrm>
            <a:off x="3632200" y="4267200"/>
            <a:ext cx="2032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2200" b="1">
                <a:solidFill>
                  <a:srgbClr val="E31B23"/>
                </a:solidFill>
                <a:latin typeface="Segoe UI" panose="020B0502040204020203" pitchFamily="34" charset="0"/>
              </a:rPr>
              <a:t>R$ 17.500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4F87DD8-EBA8-43EA-2F9F-EAF63415C2FE}"/>
              </a:ext>
            </a:extLst>
          </p:cNvPr>
          <p:cNvSpPr/>
          <p:nvPr/>
        </p:nvSpPr>
        <p:spPr>
          <a:xfrm>
            <a:off x="6273800" y="1625600"/>
            <a:ext cx="5207000" cy="3429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1989B2C-D26F-8B61-C01B-81C9D14BE3F3}"/>
              </a:ext>
            </a:extLst>
          </p:cNvPr>
          <p:cNvSpPr txBox="1"/>
          <p:nvPr/>
        </p:nvSpPr>
        <p:spPr>
          <a:xfrm>
            <a:off x="6527800" y="18034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Segoe UI" panose="020B0502040204020203" pitchFamily="34" charset="0"/>
              </a:rPr>
              <a:t>Pacote Essencial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7801A78-4FCD-B2BB-B9D0-4C886C92C604}"/>
              </a:ext>
            </a:extLst>
          </p:cNvPr>
          <p:cNvSpPr txBox="1"/>
          <p:nvPr/>
        </p:nvSpPr>
        <p:spPr>
          <a:xfrm>
            <a:off x="6527800" y="2082800"/>
            <a:ext cx="4699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555555"/>
                </a:solidFill>
                <a:latin typeface="Segoe UI" panose="020B0502040204020203" pitchFamily="34" charset="0"/>
              </a:rPr>
              <a:t>Fundacao digital estrategica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FBD9AE5-91D1-6F48-E1E1-6565914A2170}"/>
              </a:ext>
            </a:extLst>
          </p:cNvPr>
          <p:cNvSpPr txBox="1"/>
          <p:nvPr/>
        </p:nvSpPr>
        <p:spPr>
          <a:xfrm>
            <a:off x="6527800" y="2362200"/>
            <a:ext cx="4699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SEO Local (Google Business Profile)
Website profissional (com criacao de dominio)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3207039-7762-6646-FBF8-7ED68566F243}"/>
              </a:ext>
            </a:extLst>
          </p:cNvPr>
          <p:cNvSpPr/>
          <p:nvPr/>
        </p:nvSpPr>
        <p:spPr>
          <a:xfrm>
            <a:off x="6527800" y="3810000"/>
            <a:ext cx="46990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68F4C7E-7E43-FD34-2F1A-D2614DE6F5EF}"/>
              </a:ext>
            </a:extLst>
          </p:cNvPr>
          <p:cNvSpPr txBox="1"/>
          <p:nvPr/>
        </p:nvSpPr>
        <p:spPr>
          <a:xfrm>
            <a:off x="6527800" y="39116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1 restaurante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F21F923-D3E3-4107-AA24-39615CCE717B}"/>
              </a:ext>
            </a:extLst>
          </p:cNvPr>
          <p:cNvSpPr txBox="1"/>
          <p:nvPr/>
        </p:nvSpPr>
        <p:spPr>
          <a:xfrm>
            <a:off x="9194800" y="3860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b="1">
                <a:solidFill>
                  <a:srgbClr val="FFFFFF"/>
                </a:solidFill>
                <a:latin typeface="Segoe UI" panose="020B0502040204020203" pitchFamily="34" charset="0"/>
              </a:rPr>
              <a:t>R$ 8.500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BE09392-049C-0D6A-F307-AEA9ECC8B95F}"/>
              </a:ext>
            </a:extLst>
          </p:cNvPr>
          <p:cNvSpPr/>
          <p:nvPr/>
        </p:nvSpPr>
        <p:spPr>
          <a:xfrm>
            <a:off x="6527800" y="4241800"/>
            <a:ext cx="4699000" cy="12700"/>
          </a:xfrm>
          <a:prstGeom prst="rect">
            <a:avLst/>
          </a:prstGeom>
          <a:solidFill>
            <a:srgbClr val="2525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CF397B-5328-DFCB-BAB1-3A24DD6975A1}"/>
              </a:ext>
            </a:extLst>
          </p:cNvPr>
          <p:cNvSpPr txBox="1"/>
          <p:nvPr/>
        </p:nvSpPr>
        <p:spPr>
          <a:xfrm>
            <a:off x="6527800" y="43434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2 restaurantes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DBBF5D1-AAEA-EA0A-7DF1-916F5CF9BA8B}"/>
              </a:ext>
            </a:extLst>
          </p:cNvPr>
          <p:cNvSpPr txBox="1"/>
          <p:nvPr/>
        </p:nvSpPr>
        <p:spPr>
          <a:xfrm>
            <a:off x="9194800" y="4267200"/>
            <a:ext cx="2032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2200" b="1">
                <a:solidFill>
                  <a:srgbClr val="E31B23"/>
                </a:solidFill>
                <a:latin typeface="Segoe UI" panose="020B0502040204020203" pitchFamily="34" charset="0"/>
              </a:rPr>
              <a:t>R$ 13.300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4F10CDC-2079-1363-071B-45D6E1ED245D}"/>
              </a:ext>
            </a:extLst>
          </p:cNvPr>
          <p:cNvSpPr/>
          <p:nvPr/>
        </p:nvSpPr>
        <p:spPr>
          <a:xfrm>
            <a:off x="711200" y="5232400"/>
            <a:ext cx="10769600" cy="4318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3C0C80A-5E66-0735-E7FE-538D416F7981}"/>
              </a:ext>
            </a:extLst>
          </p:cNvPr>
          <p:cNvSpPr txBox="1"/>
          <p:nvPr/>
        </p:nvSpPr>
        <p:spPr>
          <a:xfrm>
            <a:off x="914400" y="5283200"/>
            <a:ext cx="10363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>
                <a:solidFill>
                  <a:srgbClr val="AAAAAA"/>
                </a:solidFill>
                <a:latin typeface="Segoe UI" panose="020B0502040204020203" pitchFamily="34" charset="0"/>
              </a:rPr>
              <a:t>Todos os pacotes incluem 1 mes de execucao completa da LocalRise Advisory. Planejamento, implementacao e acompanhamento inclusos.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657ECC3-BA26-5C33-AF58-73B9F47F355F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E5B2EA8-242D-1DC9-CD87-030EE4577EFB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84E2BC8-8893-B24B-82BD-B6FCC7DF1911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11</a:t>
            </a:r>
          </a:p>
        </p:txBody>
      </p:sp>
    </p:spTree>
    <p:extLst>
      <p:ext uri="{BB962C8B-B14F-4D97-AF65-F5344CB8AC3E}">
        <p14:creationId xmlns:p14="http://schemas.microsoft.com/office/powerpoint/2010/main" val="1957421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77453713-FAAA-6631-09A3-6FD1A4C4394D}"/>
              </a:ext>
            </a:extLst>
          </p:cNvPr>
          <p:cNvSpPr/>
          <p:nvPr/>
        </p:nvSpPr>
        <p:spPr>
          <a:xfrm>
            <a:off x="10160000" y="-762000"/>
            <a:ext cx="3302000" cy="3302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F5E9B7-F562-7DD1-9E70-3E1DFC138371}"/>
              </a:ext>
            </a:extLst>
          </p:cNvPr>
          <p:cNvSpPr txBox="1"/>
          <p:nvPr/>
        </p:nvSpPr>
        <p:spPr>
          <a:xfrm>
            <a:off x="711200" y="457200"/>
            <a:ext cx="107696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900" b="1">
                <a:solidFill>
                  <a:srgbClr val="E31B23"/>
                </a:solidFill>
                <a:latin typeface="Segoe UI" panose="020B0502040204020203" pitchFamily="34" charset="0"/>
              </a:rPr>
              <a:t>VISAO DE FUTURO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C6A0FE7-71D6-FA51-ED5A-8092858CB99F}"/>
              </a:ext>
            </a:extLst>
          </p:cNvPr>
          <p:cNvSpPr txBox="1"/>
          <p:nvPr/>
        </p:nvSpPr>
        <p:spPr>
          <a:xfrm>
            <a:off x="711200" y="711200"/>
            <a:ext cx="10769600" cy="5847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Fase 2 - Escala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F42B9B-12CD-534A-8F80-05CDF6C407E4}"/>
              </a:ext>
            </a:extLst>
          </p:cNvPr>
          <p:cNvSpPr txBox="1"/>
          <p:nvPr/>
        </p:nvSpPr>
        <p:spPr>
          <a:xfrm>
            <a:off x="4394200" y="711200"/>
            <a:ext cx="2540000" cy="5847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200">
                <a:solidFill>
                  <a:srgbClr val="888888"/>
                </a:solidFill>
                <a:latin typeface="Segoe UI" panose="020B0502040204020203" pitchFamily="34" charset="0"/>
              </a:rPr>
              <a:t> (Opcional)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7CD65A-E8EE-9F8C-DB20-A26A211C1B53}"/>
              </a:ext>
            </a:extLst>
          </p:cNvPr>
          <p:cNvSpPr txBox="1"/>
          <p:nvPr/>
        </p:nvSpPr>
        <p:spPr>
          <a:xfrm>
            <a:off x="711200" y="1270000"/>
            <a:ext cx="107696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Apos a consolidacao da base digital na Fase 1.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82DC0C8-868A-2C4F-5B4D-8284FCB0EACA}"/>
              </a:ext>
            </a:extLst>
          </p:cNvPr>
          <p:cNvSpPr/>
          <p:nvPr/>
        </p:nvSpPr>
        <p:spPr>
          <a:xfrm>
            <a:off x="711200" y="1778000"/>
            <a:ext cx="5207000" cy="2032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FCA0AA-AD15-A2A6-B35A-0EF970FE1369}"/>
              </a:ext>
            </a:extLst>
          </p:cNvPr>
          <p:cNvSpPr/>
          <p:nvPr/>
        </p:nvSpPr>
        <p:spPr>
          <a:xfrm>
            <a:off x="711200" y="1778000"/>
            <a:ext cx="5207000" cy="381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8E55BA-8E25-AED6-F088-5BF37C9261EE}"/>
              </a:ext>
            </a:extLst>
          </p:cNvPr>
          <p:cNvSpPr txBox="1"/>
          <p:nvPr/>
        </p:nvSpPr>
        <p:spPr>
          <a:xfrm>
            <a:off x="914400" y="1930400"/>
            <a:ext cx="4800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555555"/>
                </a:solidFill>
                <a:latin typeface="Segoe UI" panose="020B0502040204020203" pitchFamily="34" charset="0"/>
              </a:rPr>
              <a:t>FASE 1 - ATUAL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3159BA-D51F-37DB-A425-80E6A3A5F280}"/>
              </a:ext>
            </a:extLst>
          </p:cNvPr>
          <p:cNvSpPr txBox="1"/>
          <p:nvPr/>
        </p:nvSpPr>
        <p:spPr>
          <a:xfrm>
            <a:off x="914400" y="2159000"/>
            <a:ext cx="48006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FFFFFF"/>
                </a:solidFill>
                <a:latin typeface="Segoe UI" panose="020B0502040204020203" pitchFamily="34" charset="0"/>
              </a:rPr>
              <a:t>Trafego Organico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C726CFD-781F-DD1F-C482-F7A339B85EA5}"/>
              </a:ext>
            </a:extLst>
          </p:cNvPr>
          <p:cNvSpPr txBox="1"/>
          <p:nvPr/>
        </p:nvSpPr>
        <p:spPr>
          <a:xfrm>
            <a:off x="914400" y="2489200"/>
            <a:ext cx="4800600" cy="86177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Google Business Profile
Website com SEO local
Instagram estrategico
Gestao de reputacao
Conteudo organico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BF7FDA5-D656-E1EC-E8F1-3AA366B06A71}"/>
              </a:ext>
            </a:extLst>
          </p:cNvPr>
          <p:cNvSpPr/>
          <p:nvPr/>
        </p:nvSpPr>
        <p:spPr>
          <a:xfrm>
            <a:off x="6273800" y="1778000"/>
            <a:ext cx="5207000" cy="2032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E31B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9D2D44B-B9F2-BB66-CB3C-A2C97379D586}"/>
              </a:ext>
            </a:extLst>
          </p:cNvPr>
          <p:cNvSpPr/>
          <p:nvPr/>
        </p:nvSpPr>
        <p:spPr>
          <a:xfrm>
            <a:off x="6273800" y="1778000"/>
            <a:ext cx="5207000" cy="381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33EF29-019D-BB46-3802-D2E4DDFDEAF5}"/>
              </a:ext>
            </a:extLst>
          </p:cNvPr>
          <p:cNvSpPr txBox="1"/>
          <p:nvPr/>
        </p:nvSpPr>
        <p:spPr>
          <a:xfrm>
            <a:off x="6477000" y="1930400"/>
            <a:ext cx="4800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800" b="1">
                <a:solidFill>
                  <a:srgbClr val="E31B23"/>
                </a:solidFill>
                <a:latin typeface="Segoe UI" panose="020B0502040204020203" pitchFamily="34" charset="0"/>
              </a:rPr>
              <a:t>FASE 2 - FUTURO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73208A8-3517-2964-0A29-1A7CCCBE25C7}"/>
              </a:ext>
            </a:extLst>
          </p:cNvPr>
          <p:cNvSpPr txBox="1"/>
          <p:nvPr/>
        </p:nvSpPr>
        <p:spPr>
          <a:xfrm>
            <a:off x="6477000" y="2159000"/>
            <a:ext cx="48006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FFFFFF"/>
                </a:solidFill>
                <a:latin typeface="Segoe UI" panose="020B0502040204020203" pitchFamily="34" charset="0"/>
              </a:rPr>
              <a:t>Trafego Pago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699724-C2D3-883A-1798-8032049680DC}"/>
              </a:ext>
            </a:extLst>
          </p:cNvPr>
          <p:cNvSpPr txBox="1"/>
          <p:nvPr/>
        </p:nvSpPr>
        <p:spPr>
          <a:xfrm>
            <a:off x="6477000" y="2489200"/>
            <a:ext cx="4800600" cy="86177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>
                <a:solidFill>
                  <a:srgbClr val="AAAAAA"/>
                </a:solidFill>
                <a:latin typeface="Segoe UI" panose="020B0502040204020203" pitchFamily="34" charset="0"/>
              </a:rPr>
              <a:t>Google Ads local
Instagram Ads
Campanhas segmentadas
Retargeting
Escala de aquisicao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8A70B40-FCCE-1BE8-C37B-9813013D6E73}"/>
              </a:ext>
            </a:extLst>
          </p:cNvPr>
          <p:cNvSpPr txBox="1"/>
          <p:nvPr/>
        </p:nvSpPr>
        <p:spPr>
          <a:xfrm>
            <a:off x="5918200" y="2540000"/>
            <a:ext cx="3556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400" b="1">
                <a:solidFill>
                  <a:srgbClr val="E31B23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3E4D4F9-8590-0A14-EFEB-1ED51870B5B7}"/>
              </a:ext>
            </a:extLst>
          </p:cNvPr>
          <p:cNvSpPr/>
          <p:nvPr/>
        </p:nvSpPr>
        <p:spPr>
          <a:xfrm>
            <a:off x="711200" y="4064000"/>
            <a:ext cx="10769600" cy="889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E825A78-8FE8-0C16-2526-D448729A5B52}"/>
              </a:ext>
            </a:extLst>
          </p:cNvPr>
          <p:cNvSpPr/>
          <p:nvPr/>
        </p:nvSpPr>
        <p:spPr>
          <a:xfrm>
            <a:off x="711200" y="4064000"/>
            <a:ext cx="38100" cy="889000"/>
          </a:xfrm>
          <a:prstGeom prst="rect">
            <a:avLst/>
          </a:prstGeom>
          <a:solidFill>
            <a:srgbClr val="E31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069EA6E-BC8C-2096-7522-0CA7ACCBB484}"/>
              </a:ext>
            </a:extLst>
          </p:cNvPr>
          <p:cNvSpPr txBox="1"/>
          <p:nvPr/>
        </p:nvSpPr>
        <p:spPr>
          <a:xfrm>
            <a:off x="914400" y="4140200"/>
            <a:ext cx="103632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Apos a consolidacao da base digital, existe potencial para avancar para uma segunda fase focada em escala, utilizando trafego pago para acelerar ainda mais a aquisicao de clientes.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5533B12-ED2C-EEC6-A9B4-34EAD2074CB2}"/>
              </a:ext>
            </a:extLst>
          </p:cNvPr>
          <p:cNvSpPr txBox="1"/>
          <p:nvPr/>
        </p:nvSpPr>
        <p:spPr>
          <a:xfrm>
            <a:off x="711200" y="5207000"/>
            <a:ext cx="107696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555555"/>
                </a:solidFill>
                <a:latin typeface="Segoe UI" panose="020B0502040204020203" pitchFamily="34" charset="0"/>
              </a:rPr>
              <a:t>A Fase 2 sera proposta apos a conclusao e avaliacao dos resultados da Fase 1.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7B651A5-9C5D-4270-74D7-477D203E63E8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4BEFBBD-8AD1-D541-6BC6-1F2DDED3D74F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6F24453-EC1D-D393-F731-E5F8FA34F872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12</a:t>
            </a:r>
          </a:p>
        </p:txBody>
      </p:sp>
    </p:spTree>
    <p:extLst>
      <p:ext uri="{BB962C8B-B14F-4D97-AF65-F5344CB8AC3E}">
        <p14:creationId xmlns:p14="http://schemas.microsoft.com/office/powerpoint/2010/main" val="217308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2820137-212F-4C96-7933-C4E67F072EE7}"/>
              </a:ext>
            </a:extLst>
          </p:cNvPr>
          <p:cNvSpPr/>
          <p:nvPr/>
        </p:nvSpPr>
        <p:spPr>
          <a:xfrm>
            <a:off x="10160000" y="-762000"/>
            <a:ext cx="3302000" cy="3302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E72B5A6-E061-5AAB-A3EE-0EFA6E21FCCB}"/>
              </a:ext>
            </a:extLst>
          </p:cNvPr>
          <p:cNvSpPr/>
          <p:nvPr/>
        </p:nvSpPr>
        <p:spPr>
          <a:xfrm>
            <a:off x="-762000" y="4826000"/>
            <a:ext cx="2540000" cy="2540000"/>
          </a:xfrm>
          <a:prstGeom prst="ellipse">
            <a:avLst/>
          </a:prstGeom>
          <a:noFill/>
          <a:ln w="508000" cap="flat" cmpd="sng" algn="ctr">
            <a:solidFill>
              <a:srgbClr val="E31B23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6B320C-215C-F7F0-A3D6-4EDBDAE74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698500"/>
            <a:ext cx="495300" cy="6604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CC365CC-0CCF-F1BA-B092-1FAFA3E20B76}"/>
              </a:ext>
            </a:extLst>
          </p:cNvPr>
          <p:cNvSpPr txBox="1"/>
          <p:nvPr/>
        </p:nvSpPr>
        <p:spPr>
          <a:xfrm>
            <a:off x="711200" y="1651000"/>
            <a:ext cx="107696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3600" b="1">
                <a:solidFill>
                  <a:srgbClr val="FFFFFF"/>
                </a:solidFill>
                <a:latin typeface="Segoe UI" panose="020B0502040204020203" pitchFamily="34" charset="0"/>
              </a:rPr>
              <a:t>Encerramento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4BD9F21-F4CA-51FF-9E3E-AA33413538CF}"/>
              </a:ext>
            </a:extLst>
          </p:cNvPr>
          <p:cNvCxnSpPr/>
          <p:nvPr/>
        </p:nvCxnSpPr>
        <p:spPr>
          <a:xfrm>
            <a:off x="5715000" y="2209800"/>
            <a:ext cx="762000" cy="0"/>
          </a:xfrm>
          <a:prstGeom prst="line">
            <a:avLst/>
          </a:prstGeom>
          <a:ln w="25400">
            <a:solidFill>
              <a:srgbClr val="E31B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6BCF43-E1A2-B440-53A0-F6D1ECF82AAC}"/>
              </a:ext>
            </a:extLst>
          </p:cNvPr>
          <p:cNvSpPr txBox="1"/>
          <p:nvPr/>
        </p:nvSpPr>
        <p:spPr>
          <a:xfrm>
            <a:off x="1778000" y="2413000"/>
            <a:ext cx="8636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E31B23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9641CB-534E-9201-16B4-FC660E96759C}"/>
              </a:ext>
            </a:extLst>
          </p:cNvPr>
          <p:cNvSpPr txBox="1"/>
          <p:nvPr/>
        </p:nvSpPr>
        <p:spPr>
          <a:xfrm>
            <a:off x="1778000" y="2743200"/>
            <a:ext cx="863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>
                <a:solidFill>
                  <a:srgbClr val="AAAAAA"/>
                </a:solidFill>
                <a:latin typeface="Segoe UI" panose="020B0502040204020203" pitchFamily="34" charset="0"/>
              </a:rPr>
              <a:t>Inteligencia Digital para Negocios Locais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7CDA012-5BA8-3AA5-7905-B49CC7D78835}"/>
              </a:ext>
            </a:extLst>
          </p:cNvPr>
          <p:cNvSpPr/>
          <p:nvPr/>
        </p:nvSpPr>
        <p:spPr>
          <a:xfrm>
            <a:off x="1778000" y="3175000"/>
            <a:ext cx="8636000" cy="1016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1A4354-33F6-C380-B787-A7D050A6E386}"/>
              </a:ext>
            </a:extLst>
          </p:cNvPr>
          <p:cNvSpPr txBox="1"/>
          <p:nvPr/>
        </p:nvSpPr>
        <p:spPr>
          <a:xfrm>
            <a:off x="2032000" y="3276600"/>
            <a:ext cx="8128000" cy="6001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Os dados deste diagnostico evidenciam um potencial significativo de crescimento digital para ambos os restaurantes. A LocalRise esta preparada para construir, de forma estruturada e estrategica, a presenca digital que o seu negocio precisa para se posicionar com autoridade no mercado de Porto Alegre.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B7EC27-83FC-6254-2027-1DA33F359852}"/>
              </a:ext>
            </a:extLst>
          </p:cNvPr>
          <p:cNvSpPr txBox="1"/>
          <p:nvPr/>
        </p:nvSpPr>
        <p:spPr>
          <a:xfrm>
            <a:off x="1778000" y="4445000"/>
            <a:ext cx="863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Estamos a disposicao para iniciar essa construcao.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6AC1227-88FD-5D87-3A3A-01006C5235E9}"/>
              </a:ext>
            </a:extLst>
          </p:cNvPr>
          <p:cNvSpPr/>
          <p:nvPr/>
        </p:nvSpPr>
        <p:spPr>
          <a:xfrm>
            <a:off x="3937000" y="4927600"/>
            <a:ext cx="4318000" cy="4318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25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E31B23"/>
                </a:solidFill>
                <a:latin typeface="Segoe UI" panose="020B0502040204020203" pitchFamily="34" charset="0"/>
              </a:rPr>
              <a:t>contato@localriseadvisory.com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94A9E5-3E13-2786-D628-0D4193AD3B18}"/>
              </a:ext>
            </a:extLst>
          </p:cNvPr>
          <p:cNvSpPr txBox="1"/>
          <p:nvPr/>
        </p:nvSpPr>
        <p:spPr>
          <a:xfrm>
            <a:off x="711200" y="5588000"/>
            <a:ext cx="10769600" cy="21544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800">
                <a:solidFill>
                  <a:srgbClr val="555555"/>
                </a:solidFill>
                <a:latin typeface="Segoe UI" panose="020B0502040204020203" pitchFamily="34" charset="0"/>
              </a:rPr>
              <a:t>Abril 2026  -  Porto Alegre, RS  -  Valida por 15 dias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F1FFA0FD-C997-B8EA-C47D-EA60CF7F0455}"/>
              </a:ext>
            </a:extLst>
          </p:cNvPr>
          <p:cNvCxnSpPr/>
          <p:nvPr/>
        </p:nvCxnSpPr>
        <p:spPr>
          <a:xfrm>
            <a:off x="711200" y="6400800"/>
            <a:ext cx="10769600" cy="0"/>
          </a:xfrm>
          <a:prstGeom prst="line">
            <a:avLst/>
          </a:prstGeom>
          <a:ln w="6350" cap="flat" cmpd="sng" algn="ctr">
            <a:solidFill>
              <a:srgbClr val="E31B23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47B20DE-40B1-12AD-45D9-A5BB1C6A2D67}"/>
              </a:ext>
            </a:extLst>
          </p:cNvPr>
          <p:cNvSpPr txBox="1"/>
          <p:nvPr/>
        </p:nvSpPr>
        <p:spPr>
          <a:xfrm>
            <a:off x="711200" y="6477000"/>
            <a:ext cx="2540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700" b="1">
                <a:solidFill>
                  <a:srgbClr val="555555"/>
                </a:solidFill>
                <a:latin typeface="Segoe UI" panose="020B0502040204020203" pitchFamily="34" charset="0"/>
              </a:rPr>
              <a:t>LocalRise Advisory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9B1863-0183-57AC-FD3D-1C5F1F626129}"/>
              </a:ext>
            </a:extLst>
          </p:cNvPr>
          <p:cNvSpPr txBox="1"/>
          <p:nvPr/>
        </p:nvSpPr>
        <p:spPr>
          <a:xfrm>
            <a:off x="9575800" y="6477000"/>
            <a:ext cx="1905000" cy="2000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700">
                <a:solidFill>
                  <a:srgbClr val="555555"/>
                </a:solidFill>
                <a:latin typeface="Segoe UI" panose="020B0502040204020203" pitchFamily="34" charset="0"/>
              </a:rPr>
              <a:t>Confidencial - p. 13</a:t>
            </a:r>
          </a:p>
        </p:txBody>
      </p:sp>
    </p:spTree>
    <p:extLst>
      <p:ext uri="{BB962C8B-B14F-4D97-AF65-F5344CB8AC3E}">
        <p14:creationId xmlns:p14="http://schemas.microsoft.com/office/powerpoint/2010/main" val="1130390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1380</Words>
  <Application>Microsoft Office PowerPoint</Application>
  <PresentationFormat>Personalizar</PresentationFormat>
  <Paragraphs>292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SLATER</dc:creator>
  <cp:lastModifiedBy>NICOLAS SLATER</cp:lastModifiedBy>
  <cp:revision>1</cp:revision>
  <dcterms:created xsi:type="dcterms:W3CDTF">2026-04-01T19:15:54Z</dcterms:created>
  <dcterms:modified xsi:type="dcterms:W3CDTF">2026-04-01T19:15:54Z</dcterms:modified>
</cp:coreProperties>
</file>